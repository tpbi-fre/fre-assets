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7" r:id="rId3"/>
  </p:sldMasterIdLst>
  <p:sldIdLst>
    <p:sldId id="256" r:id="rId7"/>
    <p:sldId id="257" r:id="rId6"/>
    <p:sldId id="258" r:id="rId5"/>
    <p:sldId id="259" r:id="rId4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5AC2-BD92-429D-A74C-D27B4E0E72A8}" v="3" dt="2026-03-17T04:33:02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667"/>
    <p:restoredTop sz="96327"/>
  </p:normalViewPr>
  <p:slideViewPr>
    <p:cSldViewPr snapToGrid="0">
      <p:cViewPr>
        <p:scale>
          <a:sx n="100" d="100"/>
          <a:sy n="100" d="100"/>
        </p:scale>
        <p:origin x="7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3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43629F-2DE2-051E-4125-1049812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4525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76876A-756E-769F-1FF5-D663F31A4D8A}"/>
              </a:ext>
            </a:extLst>
          </p:cNvPr>
          <p:cNvSpPr/>
          <p:nvPr userDrawn="1"/>
        </p:nvSpPr>
        <p:spPr>
          <a:xfrm>
            <a:off x="-10202" y="6558110"/>
            <a:ext cx="12192000" cy="299890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Turning Point Brands Logo 1-01.png" descr="Turning Point Brands Logo 1-01.png">
            <a:extLst>
              <a:ext uri="{FF2B5EF4-FFF2-40B4-BE49-F238E27FC236}">
                <a16:creationId xmlns:a16="http://schemas.microsoft.com/office/drawing/2014/main" id="{15E073BE-E684-83CC-A979-85FA575B3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0335" b="30335"/>
          <a:stretch>
            <a:fillRect/>
          </a:stretch>
        </p:blipFill>
        <p:spPr>
          <a:xfrm>
            <a:off x="3296542" y="791967"/>
            <a:ext cx="5598915" cy="220198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0">
            <a:extLst>
              <a:ext uri="{FF2B5EF4-FFF2-40B4-BE49-F238E27FC236}">
                <a16:creationId xmlns:a16="http://schemas.microsoft.com/office/drawing/2014/main" id="{EA11AF65-45D1-35B3-4812-1748D005BCDE}"/>
              </a:ext>
            </a:extLst>
          </p:cNvPr>
          <p:cNvSpPr txBox="1"/>
          <p:nvPr userDrawn="1"/>
        </p:nvSpPr>
        <p:spPr>
          <a:xfrm>
            <a:off x="1454898" y="653368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79FE7FA-A6EB-69D1-2CDA-7E9FDBB6E9C9}"/>
              </a:ext>
            </a:extLst>
          </p:cNvPr>
          <p:cNvSpPr txBox="1"/>
          <p:nvPr userDrawn="1"/>
        </p:nvSpPr>
        <p:spPr>
          <a:xfrm>
            <a:off x="291407" y="6598832"/>
            <a:ext cx="2061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4327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019690D-BBEB-A894-5633-35FA498A700A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20">
            <a:extLst>
              <a:ext uri="{FF2B5EF4-FFF2-40B4-BE49-F238E27FC236}">
                <a16:creationId xmlns:a16="http://schemas.microsoft.com/office/drawing/2014/main" id="{A0830267-5F54-68D0-7739-01F3264F385C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12FD36-4F64-7C8D-A792-3F61AFA48D8A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  <p:pic>
        <p:nvPicPr>
          <p:cNvPr id="9" name="Turning Point Brands Logo.png" descr="Turning Point Brands Logo.png">
            <a:extLst>
              <a:ext uri="{FF2B5EF4-FFF2-40B4-BE49-F238E27FC236}">
                <a16:creationId xmlns:a16="http://schemas.microsoft.com/office/drawing/2014/main" id="{AA7828D1-385A-598D-FEA3-F4C68B6BA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2AD4A0-1E8B-A237-136D-F6487A203716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62" y="760104"/>
            <a:ext cx="11277475" cy="66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A85D06A-E24B-42D5-65DF-A46C1BEA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30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urning Point Brands Logo.png" descr="Turning Point Brands Logo.png">
            <a:extLst>
              <a:ext uri="{FF2B5EF4-FFF2-40B4-BE49-F238E27FC236}">
                <a16:creationId xmlns:a16="http://schemas.microsoft.com/office/drawing/2014/main" id="{CB7FD011-EF67-8E04-BFA2-1C27325D5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F8984D2-B12B-270B-687D-0B2FEA28D5A8}"/>
              </a:ext>
            </a:extLst>
          </p:cNvPr>
          <p:cNvGrpSpPr/>
          <p:nvPr userDrawn="1"/>
        </p:nvGrpSpPr>
        <p:grpSpPr>
          <a:xfrm>
            <a:off x="12014825" y="1862280"/>
            <a:ext cx="215442" cy="3133440"/>
            <a:chOff x="12014825" y="1862280"/>
            <a:chExt cx="215442" cy="3133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66C67E-01C1-6AD9-5C35-3D0774EC1A46}"/>
                </a:ext>
              </a:extLst>
            </p:cNvPr>
            <p:cNvSpPr/>
            <p:nvPr userDrawn="1"/>
          </p:nvSpPr>
          <p:spPr>
            <a:xfrm>
              <a:off x="12045142" y="1862280"/>
              <a:ext cx="146858" cy="3133440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2E5C0F-811B-A72E-430D-9DE0D7650349}"/>
                </a:ext>
              </a:extLst>
            </p:cNvPr>
            <p:cNvSpPr txBox="1"/>
            <p:nvPr userDrawn="1"/>
          </p:nvSpPr>
          <p:spPr>
            <a:xfrm rot="5400000">
              <a:off x="11274077" y="3321278"/>
              <a:ext cx="1696937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  <a:sym typeface="Calibri"/>
                </a:rPr>
                <a:t>Turning Point Brands (NYSE: TPB)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BB96CB7-90D9-C3AB-907A-931BF87B47AF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D0F8E446-B29A-A488-B699-4DFAFFF022DD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97C638-878E-05E6-164D-C0FDC33F0825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255105550"/>
      </p:ext>
    </p:extLst>
  </p:cSld>
  <p:clrMap bg1="lt1" tx1="dk1" bg2="lt2" tx2="dk2" accent1="accent1" accent2="accent2" accent3="accent3" accent4="accent4" accent5="accent5" accent6="accent6" hlink="hlink" folHlink="folHlink"/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403000000020004" pitchFamily="2"/>
          <a:ea typeface="Helvetica Neue" panose="02000403000000020004" pitchFamily="2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999999"/>
                </a:solidFill>
              </a:rPr>
              <a:t>FRE FLAVOR LABS  —  STRATEGIC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200">
                <a:solidFill>
                  <a:srgbClr val="FFFFFF"/>
                </a:solidFill>
              </a:rPr>
              <a:t>THE ART OF
THE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2743200" cy="54864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CCCCCC"/>
                </a:solidFill>
              </a:rPr>
              <a:t>A new engagement vehicle for FRE consumers.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764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CCCCCC"/>
                </a:solidFill>
              </a:rPr>
              <a:t>Built to attract, convert, and retain at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15383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CCCCCC"/>
                </a:solidFill>
              </a:rPr>
              <a:t>The bait. The hook. The funnel.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91072"/>
            <a:ext cx="11247120" cy="4572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WHAT IS FRE FLAVOR LABS?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An innovation and engagement platform that lives to complement the master brand — FRE.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200">
                <a:solidFill>
                  <a:srgbClr val="000000"/>
                </a:solidFill>
              </a:rPr>
              <a:t>• Versioned, limited-edition pouches under the FRE Flavor Labs sub-brand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"Americana" flavor profiles — Key Lime Pie, Cinnamon Stick, Vanilla Cappuccino — given a glitched, techy, futuristic visual treatment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White label quality pouches via Lucy (online only)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Caffeine pouches in development via DENISSI (European manufacturer, Dallas TX)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Every release is a version (v1, v2...) — versions refresh naturally through new flavors, collabs, and packaging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89320" y="1097280"/>
            <a:ext cx="0" cy="51206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WHAT IT IS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200">
                <a:solidFill>
                  <a:srgbClr val="000000"/>
                </a:solidFill>
              </a:rPr>
              <a:t>• Not a standalone brand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Not a competitor to core FRE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Not a one-off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566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77639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200">
                <a:solidFill>
                  <a:srgbClr val="000000"/>
                </a:solidFill>
              </a:rPr>
              <a:t>• The top of the FRE acquisition funnel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A durable, compounding consumer engine</a:t>
            </a:r>
          </a:p>
          <a:p>
            <a:pPr spc="100"/>
            <a:r>
              <a:rPr sz="1200">
                <a:solidFill>
                  <a:srgbClr val="000000"/>
                </a:solidFill>
              </a:rPr>
              <a:t>• The bait that catches fish for 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0B0F0"/>
                </a:solidFill>
              </a:rPr>
              <a:t>FRE LABS exists to feed FRE. Every LABS consumer is a prospective FRE loyalist.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FRE UNIVERSE — WHERE LABS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FRE LABS is the entry point. Core FRE is the destination. FRE Rewards is the 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" cy="68580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B0F0"/>
                </a:solidFill>
              </a:rPr>
              <a:t>BAIT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0000"/>
                </a:solidFill>
              </a:rPr>
              <a:t>FRE FLAVOR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075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Eye-catching limited editions, fun flavors, collab cans. Attracts new consumers who'd never pick up core FRE. Low barrier, high curiosity.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09728" cy="685800"/>
          </a:xfrm>
          <a:prstGeom prst="rect">
            <a:avLst/>
          </a:prstGeom>
          <a:solidFill>
            <a:srgbClr val="FF80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8000"/>
                </a:solidFill>
              </a:rP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0000"/>
                </a:solidFill>
              </a:rPr>
              <a:t>THE LABS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219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QR codes on every can. Flavor voting. Mystery drops. Early access. The curious friend scans the QR → lands on a page → we have a data point. That's the moment.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09728" cy="685800"/>
          </a:xfrm>
          <a:prstGeom prst="rect">
            <a:avLst/>
          </a:prstGeom>
          <a:solidFill>
            <a:srgbClr val="0070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7000"/>
                </a:solidFill>
              </a:rP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0000"/>
                </a:solidFill>
              </a:rPr>
              <a:t>CORE FRE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363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Quality pouches, performance positioning, full strength range. LABS consumers graduate here. Even converting &lt;50% of LABS trial users is a serious growth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109728" cy="685800"/>
          </a:xfrm>
          <a:prstGeom prst="rect">
            <a:avLst/>
          </a:prstGeom>
          <a:solidFill>
            <a:srgbClr val="AA44FF"/>
          </a:solidFill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AA44FF"/>
                </a:solidFill>
              </a:rPr>
              <a:t>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>
                <a:solidFill>
                  <a:srgbClr val="000000"/>
                </a:solidFill>
              </a:rPr>
              <a:t>FRE REWARDS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50791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LABS activity earns status in the broader FRE ecosystem. Insider tiers, exclusive drops, early releases. The flywheel locks in lifetime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0B0F0"/>
                </a:solidFill>
              </a:rPr>
              <a:t>Think of FRE LABS like a virus — distributed through vending, affiliates, and physical product,
infecting new consumers and reeling them into the FRE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ENGAGEMENT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Summer asked for an engagement vehicle. Here's what that looks like in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FLAVOR 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Community decides what v-next tastes like. Members vote on upcoming flavors before launch. Creates anticipation, ownership, and word of mouth before a product 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LIMITED EDITION COLLABS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361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UFC fighters, NASCAR drivers, bands, artists, athletes — each gets a custom can label. 500–1,000 unit runs. Collector's items. When it's gone, it's gone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MYSTERY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Order a random limited edition on ecomm. Surprise drop mechanics drive repeat purchase and social sharing. What did you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EARLY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5351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FRE LABS members get new versions before general release. Insider culture. Being first is the perk.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FRE REWARDS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083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LABS activity — scanning QR codes, voting, purchasing — earns status in the broader FRE Rewards ecosystem. LABS is the on-ramp to FRE loyalty.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QR-FIRST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7083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The can is a recruiting tool. The QR code is designed for the curious friend, not the buyer. Scan → landing page → data capture → funnel entry. The can does the selling.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PROOF OF CONCEPT — WHO'S DONE THIS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The mechanics FRE LABS is built on have been proven at scale. Here's who did it and what we're stealing.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JONES SODA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999999"/>
                </a:solidFill>
              </a:rPr>
              <a:t>The Engagement Mechanic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47088"/>
            <a:ext cx="347472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100">
                <a:solidFill>
                  <a:srgbClr val="000000"/>
                </a:solidFill>
              </a:rPr>
              <a:t>• Community submitted photos for can labels — fans owned the brand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Flavor voting determined new releases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Mystery flavor SKUs drove repeat purchase and social buzz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Built cult loyalty in a commodity category (soda) with no ad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3474720" cy="822960"/>
          </a:xfrm>
          <a:prstGeom prst="rect">
            <a:avLst/>
          </a:prstGeom>
          <a:solidFill>
            <a:srgbClr val="E2F5FD"/>
          </a:solidFill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000000"/>
                </a:solidFill>
              </a:rPr>
              <a:t>What we steal: the voting mechanic, the label collab model, the 'community owns this' feeling.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LIQUID DEATH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999999"/>
                </a:solidFill>
              </a:rPr>
              <a:t>The Can Is The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47088"/>
            <a:ext cx="347472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160520" y="1938528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100">
                <a:solidFill>
                  <a:srgbClr val="000000"/>
                </a:solidFill>
              </a:rPr>
              <a:t>• Built a lifestyle brand in the most commodity category imaginable (water)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Artist collabs (Tony Hawk, etc.) — every drop is a content moment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Irreverent limited editions create FOMO and earned media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Design is the media spend — no traditional advertising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526280"/>
            <a:ext cx="3474720" cy="822960"/>
          </a:xfrm>
          <a:prstGeom prst="rect">
            <a:avLst/>
          </a:prstGeom>
          <a:solidFill>
            <a:srgbClr val="E2F5FD"/>
          </a:solidFill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000000"/>
                </a:solidFill>
              </a:rPr>
              <a:t>What we steal: the can as campaign. FRE LABS' glitched Americana aesthetic needs to do this same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RED BULL EDITIONS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999999"/>
                </a:solidFill>
              </a:rPr>
              <a:t>The Sub-Brand Business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847088"/>
            <a:ext cx="347472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79" y="1938528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100">
                <a:solidFill>
                  <a:srgbClr val="000000"/>
                </a:solidFill>
              </a:rPr>
              <a:t>• Editions (Watermelon, Coconut Berry, etc.) attract consumers who'd never try core Red Bull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Sub-brand doesn't compete with parent — it fishes in different ponds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Graduates new users to core SKU over time</a:t>
            </a:r>
          </a:p>
          <a:p>
            <a:pPr spc="100"/>
            <a:r>
              <a:rPr sz="1100">
                <a:solidFill>
                  <a:srgbClr val="000000"/>
                </a:solidFill>
              </a:rPr>
              <a:t>• Proved that experimentation protects, not dilutes, the master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526280"/>
            <a:ext cx="3474720" cy="822960"/>
          </a:xfrm>
          <a:prstGeom prst="rect">
            <a:avLst/>
          </a:prstGeom>
          <a:solidFill>
            <a:srgbClr val="E2F5FD"/>
          </a:solidFill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000000"/>
                </a:solidFill>
              </a:rPr>
              <a:t>What we steal: FRE LABS as Editions. Same quality promise, different entry point, same destination.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0B0F0"/>
                </a:solidFill>
              </a:rPr>
              <a:t>Jones = the engagement model.  Liquid Death = the design philosophy.  Red Bull = the business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WHY THIS IS THE RIGHT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Immediate revenue. Deeper engagement. Ecomm growth. Brand protection. All from one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7000"/>
                </a:solidFill>
              </a:rPr>
              <a:t>IMMEDIATE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Break-even or subsidized on LABS products is acceptable — the economics are in FRE conversion. High-commission affiliate network drives DTC volume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B0F0"/>
                </a:solidFill>
              </a:rPr>
              <a:t>ECOMM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3619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Online-only Lucy products + affiliate network + QR codes on physical vending cans creates an offline-to-online bridge. Every can is a DTC acquisition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8000"/>
                </a:solidFill>
              </a:rPr>
              <a:t>DEEPER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Versioning + collaboration gives FRE an always-on content calendar. Every drop is a campaign. Every collab is earned media. No ad spend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AA44FF"/>
                </a:solidFill>
              </a:rPr>
              <a:t>BRAND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5351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LABS gives FRE room to experiment without risking core brand equity. A flavor that doesn't work is a LABS experiment. Core FRE stays clean and sharp.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07000"/>
                </a:solidFill>
              </a:rPr>
              <a:t>DURABILITY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083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Unlike one-off activations, FRE LABS has a structural mechanic that compounds. Versions stack. Collaborations build. Community grows. This works for years.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999999"/>
                </a:solidFill>
              </a:rPr>
              <a:t>CONTEXT: THE 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7083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Streamline/JuiceHead PMTA was denied (RTA letter). Lucy replaces them as white label partner. DENISSI caffeine pouch partnership in development. The pivot makes FRE LABS stronger — Lucy is quality we believe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LAUNCH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Six parallel tracks to get FRE LABS off the ground and set the tone for what this thing becomes.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Lock Lucy SKUs (Key Lime Pie, Cinnamon Stick, Vanilla Cappuccino) + DENISSI caffeine pouch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VISUAL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8191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Glitched Americana design system, versioning framework, can template for collabs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COLLAB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923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Identify 2–3 launch partners: UFC fighter, NASCAR driver, artist or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ECOMM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9923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LABS DTC page, QR landing pages, mystery can mechanic, data capture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AFFILIATE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High-commission affiliate program — incent trial, drive volume, break even on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16552"/>
            <a:ext cx="5394960" cy="36576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09360" y="45262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Flavor voting, early access tiers, FRE Rewards integration, insider drops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00B0F0"/>
                </a:solidFill>
              </a:rPr>
              <a:t>FRE LABS is not a campaign. It's a platform. Build it once. Run it forever.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B_PP_Theme_TITL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2AE1A997-23B2-7244-B188-C644C43DAAC3}"/>
    </a:ext>
  </a:extLst>
</a:theme>
</file>

<file path=ppt/theme/theme2.xml><?xml version="1.0" encoding="utf-8"?>
<a:theme xmlns:a="http://schemas.openxmlformats.org/drawingml/2006/main" name="1_TPB_PP_Theme_Content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Custom 1">
      <a:majorFont>
        <a:latin typeface="Helvetica Neue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81867E77-5C1D-994F-8C16-857718B6CAB2}"/>
    </a:ext>
  </a:extLst>
</a:theme>
</file>

<file path=ppt/theme/theme3.xml><?xml version="1.0" encoding="utf-8"?>
<a:theme xmlns:a="http://schemas.openxmlformats.org/drawingml/2006/main" name="1_TPB_PP_Theme_Grouping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F6CE499B-1942-F447-8BFE-D3712C1C19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</TotalTime>
  <Words>18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Helvetica Neue</vt:lpstr>
      <vt:lpstr>Helvetica Neue Medium</vt:lpstr>
      <vt:lpstr>Poppins</vt:lpstr>
      <vt:lpstr>TPB_PP_Theme_TITLE</vt:lpstr>
      <vt:lpstr>1_TPB_PP_Theme_Content Slide</vt:lpstr>
      <vt:lpstr>1_TPB_PP_Theme_Grouping Slide</vt:lpstr>
      <vt:lpstr>PowerPoint Presentation</vt:lpstr>
      <vt:lpstr>xxx</vt:lpstr>
      <vt:lpstr>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Hernandez</dc:creator>
  <cp:lastModifiedBy>Alexander Foster</cp:lastModifiedBy>
  <cp:revision>15</cp:revision>
  <dcterms:created xsi:type="dcterms:W3CDTF">2023-08-10T06:02:41Z</dcterms:created>
  <dcterms:modified xsi:type="dcterms:W3CDTF">2026-03-17T04:33:23Z</dcterms:modified>
</cp:coreProperties>
</file>