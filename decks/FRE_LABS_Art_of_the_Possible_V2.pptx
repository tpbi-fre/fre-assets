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4" r:id="rId2"/>
    <p:sldMasterId id="2147483687" r:id="rId3"/>
  </p:sldMasterIdLst>
  <p:sldIdLst>
    <p:sldId id="256" r:id="rId7"/>
    <p:sldId id="257" r:id="rId6"/>
    <p:sldId id="258" r:id="rId5"/>
    <p:sldId id="259" r:id="rId4"/>
    <p:sldId id="260" r:id="rId13"/>
    <p:sldId id="261" r:id="rId14"/>
    <p:sldId id="262" r:id="rId15"/>
    <p:sldId id="263" r:id="rId16"/>
    <p:sldId id="264" r:id="rId17"/>
    <p:sldId id="265" r:id="rId18"/>
    <p:sldId id="266" r:id="rId19"/>
    <p:sldId id="267" r:id="rId20"/>
    <p:sldId id="268" r:id="rId21"/>
    <p:sldId id="269" r:id="rId22"/>
    <p:sldId id="27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36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2C5AC2-BD92-429D-A74C-D27B4E0E72A8}" v="3" dt="2026-03-17T04:33:02.3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6667"/>
    <p:restoredTop sz="96327"/>
  </p:normalViewPr>
  <p:slideViewPr>
    <p:cSldViewPr snapToGrid="0">
      <p:cViewPr>
        <p:scale>
          <a:sx n="100" d="100"/>
          <a:sy n="100" d="100"/>
        </p:scale>
        <p:origin x="786" y="26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5/10/relationships/revisionInfo" Target="revisionInfo.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5334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6_Blank">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CF43629F-2DE2-051E-4125-1049812B126B}"/>
              </a:ext>
            </a:extLst>
          </p:cNvPr>
          <p:cNvSpPr>
            <a:spLocks noGrp="1"/>
          </p:cNvSpPr>
          <p:nvPr>
            <p:ph type="title"/>
          </p:nvPr>
        </p:nvSpPr>
        <p:spPr>
          <a:xfrm>
            <a:off x="457262" y="370553"/>
            <a:ext cx="10515600" cy="316508"/>
          </a:xfrm>
          <a:prstGeom prst="rect">
            <a:avLst/>
          </a:prstGeom>
        </p:spPr>
        <p:txBody>
          <a:bodyPr vert="horz" lIns="91440" tIns="45720" rIns="91440" bIns="45720" rtlCol="0" anchor="ctr">
            <a:noAutofit/>
          </a:bodyPr>
          <a:lstStyle/>
          <a:p>
            <a:r>
              <a:rPr lang="en-US" dirty="0"/>
              <a:t>Click to edit Master title style</a:t>
            </a:r>
          </a:p>
        </p:txBody>
      </p:sp>
    </p:spTree>
    <p:extLst>
      <p:ext uri="{BB962C8B-B14F-4D97-AF65-F5344CB8AC3E}">
        <p14:creationId xmlns:p14="http://schemas.microsoft.com/office/powerpoint/2010/main" val="861845259"/>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 Id="rId3"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363636"/>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876876A-756E-769F-1FF5-D663F31A4D8A}"/>
              </a:ext>
            </a:extLst>
          </p:cNvPr>
          <p:cNvSpPr/>
          <p:nvPr userDrawn="1"/>
        </p:nvSpPr>
        <p:spPr>
          <a:xfrm>
            <a:off x="-10202" y="6558110"/>
            <a:ext cx="12192000" cy="299890"/>
          </a:xfrm>
          <a:prstGeom prst="rect">
            <a:avLst/>
          </a:prstGeom>
          <a:solidFill>
            <a:schemeClr val="accent4"/>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Calibri"/>
            </a:endParaRPr>
          </a:p>
        </p:txBody>
      </p:sp>
      <p:pic>
        <p:nvPicPr>
          <p:cNvPr id="7" name="Turning Point Brands Logo 1-01.png" descr="Turning Point Brands Logo 1-01.png">
            <a:extLst>
              <a:ext uri="{FF2B5EF4-FFF2-40B4-BE49-F238E27FC236}">
                <a16:creationId xmlns:a16="http://schemas.microsoft.com/office/drawing/2014/main" id="{15E073BE-E684-83CC-A979-85FA575B3FAA}"/>
              </a:ext>
            </a:extLst>
          </p:cNvPr>
          <p:cNvPicPr>
            <a:picLocks noChangeAspect="1"/>
          </p:cNvPicPr>
          <p:nvPr userDrawn="1"/>
        </p:nvPicPr>
        <p:blipFill>
          <a:blip r:embed="rId3"/>
          <a:srcRect t="30335" b="30335"/>
          <a:stretch>
            <a:fillRect/>
          </a:stretch>
        </p:blipFill>
        <p:spPr>
          <a:xfrm>
            <a:off x="3296542" y="791967"/>
            <a:ext cx="5598915" cy="2201989"/>
          </a:xfrm>
          <a:prstGeom prst="rect">
            <a:avLst/>
          </a:prstGeom>
          <a:ln w="12700">
            <a:miter lim="400000"/>
          </a:ln>
        </p:spPr>
      </p:pic>
      <p:sp>
        <p:nvSpPr>
          <p:cNvPr id="3" name="Title 20">
            <a:extLst>
              <a:ext uri="{FF2B5EF4-FFF2-40B4-BE49-F238E27FC236}">
                <a16:creationId xmlns:a16="http://schemas.microsoft.com/office/drawing/2014/main" id="{EA11AF65-45D1-35B3-4812-1748D005BCDE}"/>
              </a:ext>
            </a:extLst>
          </p:cNvPr>
          <p:cNvSpPr txBox="1"/>
          <p:nvPr userDrawn="1"/>
        </p:nvSpPr>
        <p:spPr>
          <a:xfrm>
            <a:off x="1454898" y="6533687"/>
            <a:ext cx="9261800" cy="3530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21926" tIns="121926" rIns="121926" bIns="121926" anchor="ctr">
            <a:spAutoFit/>
          </a:bodyPr>
          <a:lstStyle/>
          <a:p>
            <a:pPr marL="0" marR="0" lvl="0" indent="0" algn="ctr" defTabSz="457200" rtl="0" eaLnBrk="1" fontAlgn="auto" latinLnBrk="0" hangingPunct="0">
              <a:lnSpc>
                <a:spcPct val="130000"/>
              </a:lnSpc>
              <a:spcBef>
                <a:spcPts val="0"/>
              </a:spcBef>
              <a:spcAft>
                <a:spcPts val="0"/>
              </a:spcAft>
              <a:buClrTx/>
              <a:buSzTx/>
              <a:buFontTx/>
              <a:buNone/>
              <a:tabLst/>
              <a:defRPr sz="900" b="1" spc="300">
                <a:latin typeface="Poppins"/>
                <a:ea typeface="Poppins"/>
                <a:cs typeface="Poppins"/>
                <a:sym typeface="Poppins"/>
              </a:defRPr>
            </a:pPr>
            <a:r>
              <a:rPr kumimoji="0" lang="en-US" sz="600" b="1" i="0" u="none" strike="noStrike" kern="0" cap="none" spc="30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Poppins"/>
              </a:rPr>
              <a:t>|  NYSE: TPB  |  5201 INTERCHANGE WAY, LOUISVILLE KY  |  TURNINGPOINTBRANDS.COM  |</a:t>
            </a:r>
            <a:endParaRPr kumimoji="0" sz="600" b="1" i="0" u="none" strike="noStrike" kern="0" cap="none" spc="30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Poppins"/>
            </a:endParaRPr>
          </a:p>
        </p:txBody>
      </p:sp>
      <p:sp>
        <p:nvSpPr>
          <p:cNvPr id="4" name="Text">
            <a:extLst>
              <a:ext uri="{FF2B5EF4-FFF2-40B4-BE49-F238E27FC236}">
                <a16:creationId xmlns:a16="http://schemas.microsoft.com/office/drawing/2014/main" id="{179FE7FA-A6EB-69D1-2CDA-7E9FDBB6E9C9}"/>
              </a:ext>
            </a:extLst>
          </p:cNvPr>
          <p:cNvSpPr txBox="1"/>
          <p:nvPr userDrawn="1"/>
        </p:nvSpPr>
        <p:spPr>
          <a:xfrm>
            <a:off x="291407" y="6598832"/>
            <a:ext cx="206145"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sz="1200">
                <a:solidFill>
                  <a:srgbClr val="888888"/>
                </a:solidFill>
              </a:defRPr>
            </a:pPr>
            <a:fld id="{86CB4B4D-7CA3-9044-876B-883B54F8677D}" type="slidenum">
              <a:rPr kumimoji="0" sz="600" b="0" i="0" u="none" strike="noStrike" kern="0" cap="none" spc="0" normalizeH="0" baseline="0" noProof="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Calibri"/>
              </a:rPr>
              <a:pPr marL="0" marR="0" lvl="0" indent="0" algn="ctr" defTabSz="914400" rtl="0" eaLnBrk="1" fontAlgn="auto" latinLnBrk="0" hangingPunct="0">
                <a:lnSpc>
                  <a:spcPct val="100000"/>
                </a:lnSpc>
                <a:spcBef>
                  <a:spcPts val="0"/>
                </a:spcBef>
                <a:spcAft>
                  <a:spcPts val="0"/>
                </a:spcAft>
                <a:buClrTx/>
                <a:buSzTx/>
                <a:buFontTx/>
                <a:buNone/>
                <a:tabLst/>
                <a:defRPr sz="1200">
                  <a:solidFill>
                    <a:srgbClr val="888888"/>
                  </a:solidFill>
                </a:defRPr>
              </a:pPr>
              <a:t>‹#›</a:t>
            </a:fld>
            <a:r>
              <a:rPr kumimoji="0" sz="600" b="0" i="0" u="none" strike="noStrike" kern="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Calibri"/>
              </a:rPr>
              <a:t>￼</a:t>
            </a:r>
          </a:p>
        </p:txBody>
      </p:sp>
    </p:spTree>
    <p:extLst>
      <p:ext uri="{BB962C8B-B14F-4D97-AF65-F5344CB8AC3E}">
        <p14:creationId xmlns:p14="http://schemas.microsoft.com/office/powerpoint/2010/main" val="243271137"/>
      </p:ext>
    </p:extLst>
  </p:cSld>
  <p:clrMap bg1="lt1" tx1="dk1" bg2="lt2" tx2="dk2" accent1="accent1" accent2="accent2" accent3="accent3" accent4="accent4" accent5="accent5" accent6="accent6" hlink="hlink" folHlink="folHlink"/>
  <p:sldLayoutIdLst>
    <p:sldLayoutId id="2147483672" r:id="rId1"/>
  </p:sldLayoutIdLst>
  <p:transition spd="med"/>
  <p:txStyles>
    <p:titleStyle>
      <a:lvl1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1pPr>
      <a:lvl2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2pPr>
      <a:lvl3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3pPr>
      <a:lvl4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4pPr>
      <a:lvl5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5pPr>
      <a:lvl6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6pPr>
      <a:lvl7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7pPr>
      <a:lvl8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8pPr>
      <a:lvl9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9pPr>
    </p:titleStyle>
    <p:bodyStyle>
      <a:lvl1pPr marL="228600" marR="0" indent="-228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1pPr>
      <a:lvl2pPr marL="723900" marR="0" indent="-2667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2pPr>
      <a:lvl3pPr marL="1234439" marR="0" indent="-320039"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3pPr>
      <a:lvl4pPr marL="17272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4pPr>
      <a:lvl5pPr marL="21844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5pPr>
      <a:lvl6pPr marL="26416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6pPr>
      <a:lvl7pPr marL="30988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7pPr>
      <a:lvl8pPr marL="35560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8pPr>
      <a:lvl9pPr marL="40132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9pPr>
    </p:bodyStyle>
    <p:otherStyle>
      <a:lvl1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22860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27432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32004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36576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019690D-BBEB-A894-5633-35FA498A700A}"/>
              </a:ext>
            </a:extLst>
          </p:cNvPr>
          <p:cNvSpPr/>
          <p:nvPr userDrawn="1"/>
        </p:nvSpPr>
        <p:spPr>
          <a:xfrm>
            <a:off x="1" y="6567676"/>
            <a:ext cx="12192000" cy="290324"/>
          </a:xfrm>
          <a:prstGeom prst="rect">
            <a:avLst/>
          </a:prstGeom>
          <a:solidFill>
            <a:schemeClr val="bg1">
              <a:lumMod val="95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sp>
        <p:nvSpPr>
          <p:cNvPr id="6" name="Title 20">
            <a:extLst>
              <a:ext uri="{FF2B5EF4-FFF2-40B4-BE49-F238E27FC236}">
                <a16:creationId xmlns:a16="http://schemas.microsoft.com/office/drawing/2014/main" id="{A0830267-5F54-68D0-7739-01F3264F385C}"/>
              </a:ext>
            </a:extLst>
          </p:cNvPr>
          <p:cNvSpPr txBox="1"/>
          <p:nvPr userDrawn="1"/>
        </p:nvSpPr>
        <p:spPr>
          <a:xfrm>
            <a:off x="1454898" y="6514637"/>
            <a:ext cx="9261800" cy="3530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21926" tIns="121926" rIns="121926" bIns="121926" anchor="ctr">
            <a:spAutoFit/>
          </a:bodyPr>
          <a:lstStyle/>
          <a:p>
            <a:pPr marL="0" marR="0" lvl="0" indent="0" algn="ctr" defTabSz="457200" rtl="0" eaLnBrk="1" fontAlgn="auto" latinLnBrk="0" hangingPunct="0">
              <a:lnSpc>
                <a:spcPct val="130000"/>
              </a:lnSpc>
              <a:spcBef>
                <a:spcPts val="0"/>
              </a:spcBef>
              <a:spcAft>
                <a:spcPts val="0"/>
              </a:spcAft>
              <a:buClrTx/>
              <a:buSzTx/>
              <a:buFontTx/>
              <a:buNone/>
              <a:tabLst/>
              <a:defRPr sz="900" b="1" spc="300">
                <a:latin typeface="Poppins"/>
                <a:ea typeface="Poppins"/>
                <a:cs typeface="Poppins"/>
                <a:sym typeface="Poppins"/>
              </a:defRPr>
            </a:pPr>
            <a:r>
              <a:rPr kumimoji="0" lang="en-US" sz="600" b="1" i="0" u="none" strike="noStrike" kern="0" cap="none" spc="300" normalizeH="0" baseline="0" noProof="0" dirty="0">
                <a:ln>
                  <a:noFill/>
                </a:ln>
                <a:solidFill>
                  <a:schemeClr val="bg1">
                    <a:lumMod val="50000"/>
                  </a:scheme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Poppins"/>
              </a:rPr>
              <a:t>|  NYSE: TPB  |  5201 INTERCHANGE WAY, LOUISVILLE KY  |  TURNINGPOINTBRANDS.COM  |</a:t>
            </a:r>
            <a:endParaRPr kumimoji="0" sz="600" b="1" i="0" u="none" strike="noStrike" kern="0" cap="none" spc="300" normalizeH="0" baseline="0" noProof="0" dirty="0">
              <a:ln>
                <a:noFill/>
              </a:ln>
              <a:solidFill>
                <a:schemeClr val="bg1">
                  <a:lumMod val="50000"/>
                </a:scheme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Poppins"/>
            </a:endParaRPr>
          </a:p>
        </p:txBody>
      </p:sp>
      <p:sp>
        <p:nvSpPr>
          <p:cNvPr id="7" name="Text">
            <a:extLst>
              <a:ext uri="{FF2B5EF4-FFF2-40B4-BE49-F238E27FC236}">
                <a16:creationId xmlns:a16="http://schemas.microsoft.com/office/drawing/2014/main" id="{2A12FD36-4F64-7C8D-A792-3F61AFA48D8A}"/>
              </a:ext>
            </a:extLst>
          </p:cNvPr>
          <p:cNvSpPr txBox="1"/>
          <p:nvPr userDrawn="1"/>
        </p:nvSpPr>
        <p:spPr>
          <a:xfrm>
            <a:off x="275378" y="6598832"/>
            <a:ext cx="238204"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sz="1200">
                <a:solidFill>
                  <a:srgbClr val="888888"/>
                </a:solidFill>
              </a:defRPr>
            </a:pPr>
            <a:fld id="{86CB4B4D-7CA3-9044-876B-883B54F8677D}" type="slidenum">
              <a:rPr kumimoji="0" sz="600" b="0" i="0" u="none" strike="noStrike" kern="0" cap="none" spc="0" normalizeH="0" baseline="0" noProof="0">
                <a:ln>
                  <a:noFill/>
                </a:ln>
                <a:solidFill>
                  <a:srgbClr val="888888"/>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Calibri"/>
              </a:rPr>
              <a:pPr marL="0" marR="0" lvl="0" indent="0" algn="ctr" defTabSz="914400" rtl="0" eaLnBrk="1" fontAlgn="auto" latinLnBrk="0" hangingPunct="0">
                <a:lnSpc>
                  <a:spcPct val="100000"/>
                </a:lnSpc>
                <a:spcBef>
                  <a:spcPts val="0"/>
                </a:spcBef>
                <a:spcAft>
                  <a:spcPts val="0"/>
                </a:spcAft>
                <a:buClrTx/>
                <a:buSzTx/>
                <a:buFontTx/>
                <a:buNone/>
                <a:tabLst/>
                <a:defRPr sz="1200">
                  <a:solidFill>
                    <a:srgbClr val="888888"/>
                  </a:solidFill>
                </a:defRPr>
              </a:pPr>
              <a:t>‹#›</a:t>
            </a:fld>
            <a:r>
              <a:rPr kumimoji="0" sz="600" b="0" i="0" u="none" strike="noStrike" kern="0" cap="none" spc="0" normalizeH="0" baseline="0" noProof="0" dirty="0">
                <a:ln>
                  <a:noFill/>
                </a:ln>
                <a:solidFill>
                  <a:srgbClr val="888888"/>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Calibri"/>
              </a:rPr>
              <a:t>￼</a:t>
            </a:r>
          </a:p>
        </p:txBody>
      </p:sp>
      <p:pic>
        <p:nvPicPr>
          <p:cNvPr id="9" name="Turning Point Brands Logo.png" descr="Turning Point Brands Logo.png">
            <a:extLst>
              <a:ext uri="{FF2B5EF4-FFF2-40B4-BE49-F238E27FC236}">
                <a16:creationId xmlns:a16="http://schemas.microsoft.com/office/drawing/2014/main" id="{AA7828D1-385A-598D-FEA3-F4C68B6BA3F4}"/>
              </a:ext>
            </a:extLst>
          </p:cNvPr>
          <p:cNvPicPr>
            <a:picLocks noChangeAspect="1"/>
          </p:cNvPicPr>
          <p:nvPr userDrawn="1"/>
        </p:nvPicPr>
        <p:blipFill>
          <a:blip r:embed="rId3"/>
          <a:stretch>
            <a:fillRect/>
          </a:stretch>
        </p:blipFill>
        <p:spPr>
          <a:xfrm>
            <a:off x="10603544" y="267260"/>
            <a:ext cx="1131193" cy="388645"/>
          </a:xfrm>
          <a:prstGeom prst="rect">
            <a:avLst/>
          </a:prstGeom>
          <a:ln w="12700">
            <a:miter lim="400000"/>
          </a:ln>
        </p:spPr>
      </p:pic>
      <p:cxnSp>
        <p:nvCxnSpPr>
          <p:cNvPr id="10" name="Straight Connector 9">
            <a:extLst>
              <a:ext uri="{FF2B5EF4-FFF2-40B4-BE49-F238E27FC236}">
                <a16:creationId xmlns:a16="http://schemas.microsoft.com/office/drawing/2014/main" id="{FD2AD4A0-1E8B-A237-136D-F6487A203716}"/>
              </a:ext>
            </a:extLst>
          </p:cNvPr>
          <p:cNvCxnSpPr>
            <a:cxnSpLocks/>
          </p:cNvCxnSpPr>
          <p:nvPr userDrawn="1"/>
        </p:nvCxnSpPr>
        <p:spPr>
          <a:xfrm flipV="1">
            <a:off x="457262" y="760104"/>
            <a:ext cx="11277475" cy="6620"/>
          </a:xfrm>
          <a:prstGeom prst="line">
            <a:avLst/>
          </a:prstGeom>
          <a:ln w="19050">
            <a:solidFill>
              <a:schemeClr val="accent1">
                <a:lumMod val="75000"/>
              </a:schemeClr>
            </a:solidFill>
          </a:ln>
        </p:spPr>
        <p:style>
          <a:lnRef idx="2">
            <a:schemeClr val="accent4"/>
          </a:lnRef>
          <a:fillRef idx="0">
            <a:schemeClr val="accent4"/>
          </a:fillRef>
          <a:effectRef idx="1">
            <a:schemeClr val="accent4"/>
          </a:effectRef>
          <a:fontRef idx="minor">
            <a:schemeClr val="tx1"/>
          </a:fontRef>
        </p:style>
      </p:cxnSp>
      <p:sp>
        <p:nvSpPr>
          <p:cNvPr id="3" name="Title Placeholder 1">
            <a:extLst>
              <a:ext uri="{FF2B5EF4-FFF2-40B4-BE49-F238E27FC236}">
                <a16:creationId xmlns:a16="http://schemas.microsoft.com/office/drawing/2014/main" id="{8A85D06A-E24B-42D5-65DF-A46C1BEAE45B}"/>
              </a:ext>
            </a:extLst>
          </p:cNvPr>
          <p:cNvSpPr>
            <a:spLocks noGrp="1"/>
          </p:cNvSpPr>
          <p:nvPr>
            <p:ph type="title"/>
          </p:nvPr>
        </p:nvSpPr>
        <p:spPr>
          <a:xfrm>
            <a:off x="457262" y="370553"/>
            <a:ext cx="10515600" cy="316508"/>
          </a:xfrm>
          <a:prstGeom prst="rect">
            <a:avLst/>
          </a:prstGeom>
        </p:spPr>
        <p:txBody>
          <a:bodyPr vert="horz" lIns="91440" tIns="45720" rIns="91440" bIns="45720" rtlCol="0" anchor="ctr">
            <a:noAutofit/>
          </a:bodyPr>
          <a:lstStyle/>
          <a:p>
            <a:r>
              <a:rPr lang="en-US" dirty="0"/>
              <a:t>Click to edit Master title style</a:t>
            </a:r>
          </a:p>
        </p:txBody>
      </p:sp>
    </p:spTree>
    <p:extLst>
      <p:ext uri="{BB962C8B-B14F-4D97-AF65-F5344CB8AC3E}">
        <p14:creationId xmlns:p14="http://schemas.microsoft.com/office/powerpoint/2010/main" val="1943056335"/>
      </p:ext>
    </p:extLst>
  </p:cSld>
  <p:clrMap bg1="lt1" tx1="dk1" bg2="lt2" tx2="dk2" accent1="accent1" accent2="accent2" accent3="accent3" accent4="accent4" accent5="accent5" accent6="accent6" hlink="hlink" folHlink="folHlink"/>
  <p:sldLayoutIdLst>
    <p:sldLayoutId id="2147483684" r:id="rId1"/>
  </p:sldLayoutIdLst>
  <p:transition spd="med"/>
  <p:txStyles>
    <p:titleStyle>
      <a:lvl1pPr marL="0" marR="0" indent="0" algn="l" defTabSz="914400" rtl="0" eaLnBrk="1" latinLnBrk="0" hangingPunct="1">
        <a:lnSpc>
          <a:spcPct val="90000"/>
        </a:lnSpc>
        <a:spcBef>
          <a:spcPts val="0"/>
        </a:spcBef>
        <a:spcAft>
          <a:spcPts val="0"/>
        </a:spcAft>
        <a:buClrTx/>
        <a:buSzTx/>
        <a:buFontTx/>
        <a:buNone/>
        <a:tabLst/>
        <a:defRPr sz="2000" b="1" i="0" u="none" strike="noStrike" cap="none" spc="0" baseline="0">
          <a:ln>
            <a:noFill/>
          </a:ln>
          <a:solidFill>
            <a:srgbClr val="000000"/>
          </a:solidFill>
          <a:uFillTx/>
          <a:latin typeface="+mj-lt"/>
          <a:ea typeface="Calibri Light"/>
          <a:cs typeface="Calibri Light"/>
          <a:sym typeface="Calibri Light"/>
        </a:defRPr>
      </a:lvl1pPr>
      <a:lvl2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2pPr>
      <a:lvl3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3pPr>
      <a:lvl4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4pPr>
      <a:lvl5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5pPr>
      <a:lvl6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6pPr>
      <a:lvl7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7pPr>
      <a:lvl8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8pPr>
      <a:lvl9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9pPr>
    </p:titleStyle>
    <p:bodyStyle>
      <a:lvl1pPr marL="228600" marR="0" indent="-228600" algn="l" defTabSz="914400" rtl="0" eaLnBrk="1" latinLnBrk="0" hangingPunct="1">
        <a:lnSpc>
          <a:spcPct val="90000"/>
        </a:lnSpc>
        <a:spcBef>
          <a:spcPts val="1000"/>
        </a:spcBef>
        <a:spcAft>
          <a:spcPts val="0"/>
        </a:spcAft>
        <a:buClrTx/>
        <a:buSzPct val="100000"/>
        <a:buFont typeface="Arial"/>
        <a:buChar char="•"/>
        <a:tabLst/>
        <a:defRPr sz="2000" b="0" i="0" u="none" strike="noStrike" cap="none" spc="0" baseline="0">
          <a:ln>
            <a:noFill/>
          </a:ln>
          <a:solidFill>
            <a:schemeClr val="tx1">
              <a:lumMod val="85000"/>
              <a:lumOff val="15000"/>
            </a:schemeClr>
          </a:solidFill>
          <a:uFillTx/>
          <a:latin typeface="Helvetica" pitchFamily="2" charset="0"/>
          <a:ea typeface="+mj-ea"/>
          <a:cs typeface="+mj-cs"/>
          <a:sym typeface="Calibri"/>
        </a:defRPr>
      </a:lvl1pPr>
      <a:lvl2pPr marL="723900" marR="0" indent="-266700" algn="l" defTabSz="914400" rtl="0" eaLnBrk="1" latinLnBrk="0" hangingPunct="1">
        <a:lnSpc>
          <a:spcPct val="90000"/>
        </a:lnSpc>
        <a:spcBef>
          <a:spcPts val="1000"/>
        </a:spcBef>
        <a:spcAft>
          <a:spcPts val="0"/>
        </a:spcAft>
        <a:buClrTx/>
        <a:buSzPct val="100000"/>
        <a:buFont typeface="Arial"/>
        <a:buChar char="•"/>
        <a:tabLst/>
        <a:defRPr sz="1800" b="0" i="0" u="none" strike="noStrike" cap="none" spc="0" baseline="0">
          <a:ln>
            <a:noFill/>
          </a:ln>
          <a:solidFill>
            <a:schemeClr val="tx1">
              <a:lumMod val="85000"/>
              <a:lumOff val="15000"/>
            </a:schemeClr>
          </a:solidFill>
          <a:uFillTx/>
          <a:latin typeface="Helvetica" pitchFamily="2" charset="0"/>
          <a:ea typeface="+mj-ea"/>
          <a:cs typeface="+mj-cs"/>
          <a:sym typeface="Calibri"/>
        </a:defRPr>
      </a:lvl2pPr>
      <a:lvl3pPr marL="1234439" marR="0" indent="-320039" algn="l" defTabSz="914400" rtl="0" eaLnBrk="1" latinLnBrk="0" hangingPunct="1">
        <a:lnSpc>
          <a:spcPct val="90000"/>
        </a:lnSpc>
        <a:spcBef>
          <a:spcPts val="1000"/>
        </a:spcBef>
        <a:spcAft>
          <a:spcPts val="0"/>
        </a:spcAft>
        <a:buClrTx/>
        <a:buSzPct val="100000"/>
        <a:buFont typeface="Arial"/>
        <a:buChar char="•"/>
        <a:tabLst/>
        <a:defRPr sz="1600" b="0" i="0" u="none" strike="noStrike" cap="none" spc="0" baseline="0">
          <a:ln>
            <a:noFill/>
          </a:ln>
          <a:solidFill>
            <a:schemeClr val="tx1">
              <a:lumMod val="85000"/>
              <a:lumOff val="15000"/>
            </a:schemeClr>
          </a:solidFill>
          <a:uFillTx/>
          <a:latin typeface="Helvetica" pitchFamily="2" charset="0"/>
          <a:ea typeface="+mj-ea"/>
          <a:cs typeface="+mj-cs"/>
          <a:sym typeface="Calibri"/>
        </a:defRPr>
      </a:lvl3pPr>
      <a:lvl4pPr marL="1727200" marR="0" indent="-355600" algn="l" defTabSz="914400" rtl="0" eaLnBrk="1" latinLnBrk="0" hangingPunct="1">
        <a:lnSpc>
          <a:spcPct val="90000"/>
        </a:lnSpc>
        <a:spcBef>
          <a:spcPts val="1000"/>
        </a:spcBef>
        <a:spcAft>
          <a:spcPts val="0"/>
        </a:spcAft>
        <a:buClrTx/>
        <a:buSzPct val="100000"/>
        <a:buFont typeface="Arial"/>
        <a:buChar char="•"/>
        <a:tabLst/>
        <a:defRPr sz="1400" b="0" i="0" u="none" strike="noStrike" cap="none" spc="0" baseline="0">
          <a:ln>
            <a:noFill/>
          </a:ln>
          <a:solidFill>
            <a:schemeClr val="tx1">
              <a:lumMod val="85000"/>
              <a:lumOff val="15000"/>
            </a:schemeClr>
          </a:solidFill>
          <a:uFillTx/>
          <a:latin typeface="Helvetica" pitchFamily="2" charset="0"/>
          <a:ea typeface="+mj-ea"/>
          <a:cs typeface="+mj-cs"/>
          <a:sym typeface="Calibri"/>
        </a:defRPr>
      </a:lvl4pPr>
      <a:lvl5pPr marL="2184400" marR="0" indent="-355600" algn="l" defTabSz="914400" rtl="0" eaLnBrk="1" latinLnBrk="0" hangingPunct="1">
        <a:lnSpc>
          <a:spcPct val="90000"/>
        </a:lnSpc>
        <a:spcBef>
          <a:spcPts val="1000"/>
        </a:spcBef>
        <a:spcAft>
          <a:spcPts val="0"/>
        </a:spcAft>
        <a:buClrTx/>
        <a:buSzPct val="100000"/>
        <a:buFont typeface="Arial"/>
        <a:buChar char="•"/>
        <a:tabLst/>
        <a:defRPr sz="1400" b="0" i="0" u="none" strike="noStrike" cap="none" spc="0" baseline="0">
          <a:ln>
            <a:noFill/>
          </a:ln>
          <a:solidFill>
            <a:schemeClr val="tx1">
              <a:lumMod val="85000"/>
              <a:lumOff val="15000"/>
            </a:schemeClr>
          </a:solidFill>
          <a:uFillTx/>
          <a:latin typeface="Helvetica" pitchFamily="2" charset="0"/>
          <a:ea typeface="+mj-ea"/>
          <a:cs typeface="+mj-cs"/>
          <a:sym typeface="Calibri"/>
        </a:defRPr>
      </a:lvl5pPr>
      <a:lvl6pPr marL="26416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6pPr>
      <a:lvl7pPr marL="30988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7pPr>
      <a:lvl8pPr marL="35560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8pPr>
      <a:lvl9pPr marL="40132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9pPr>
    </p:bodyStyle>
    <p:otherStyle>
      <a:lvl1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22860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27432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32004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36576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17" name="Turning Point Brands Logo.png" descr="Turning Point Brands Logo.png">
            <a:extLst>
              <a:ext uri="{FF2B5EF4-FFF2-40B4-BE49-F238E27FC236}">
                <a16:creationId xmlns:a16="http://schemas.microsoft.com/office/drawing/2014/main" id="{CB7FD011-EF67-8E04-BFA2-1C27325D5B6A}"/>
              </a:ext>
            </a:extLst>
          </p:cNvPr>
          <p:cNvPicPr>
            <a:picLocks noChangeAspect="1"/>
          </p:cNvPicPr>
          <p:nvPr userDrawn="1"/>
        </p:nvPicPr>
        <p:blipFill>
          <a:blip r:embed="rId2"/>
          <a:stretch>
            <a:fillRect/>
          </a:stretch>
        </p:blipFill>
        <p:spPr>
          <a:xfrm>
            <a:off x="10603544" y="267260"/>
            <a:ext cx="1131193" cy="388645"/>
          </a:xfrm>
          <a:prstGeom prst="rect">
            <a:avLst/>
          </a:prstGeom>
          <a:ln w="12700">
            <a:miter lim="400000"/>
          </a:ln>
        </p:spPr>
      </p:pic>
      <p:grpSp>
        <p:nvGrpSpPr>
          <p:cNvPr id="6" name="Group 5">
            <a:extLst>
              <a:ext uri="{FF2B5EF4-FFF2-40B4-BE49-F238E27FC236}">
                <a16:creationId xmlns:a16="http://schemas.microsoft.com/office/drawing/2014/main" id="{2F8984D2-B12B-270B-687D-0B2FEA28D5A8}"/>
              </a:ext>
            </a:extLst>
          </p:cNvPr>
          <p:cNvGrpSpPr/>
          <p:nvPr userDrawn="1"/>
        </p:nvGrpSpPr>
        <p:grpSpPr>
          <a:xfrm>
            <a:off x="12014825" y="1862280"/>
            <a:ext cx="215442" cy="3133440"/>
            <a:chOff x="12014825" y="1862280"/>
            <a:chExt cx="215442" cy="3133440"/>
          </a:xfrm>
        </p:grpSpPr>
        <p:sp>
          <p:nvSpPr>
            <p:cNvPr id="7" name="Rectangle 6">
              <a:extLst>
                <a:ext uri="{FF2B5EF4-FFF2-40B4-BE49-F238E27FC236}">
                  <a16:creationId xmlns:a16="http://schemas.microsoft.com/office/drawing/2014/main" id="{F366C67E-01C1-6AD9-5C35-3D0774EC1A46}"/>
                </a:ext>
              </a:extLst>
            </p:cNvPr>
            <p:cNvSpPr/>
            <p:nvPr userDrawn="1"/>
          </p:nvSpPr>
          <p:spPr>
            <a:xfrm>
              <a:off x="12045142" y="1862280"/>
              <a:ext cx="146858" cy="3133440"/>
            </a:xfrm>
            <a:prstGeom prst="rect">
              <a:avLst/>
            </a:prstGeom>
            <a:solidFill>
              <a:schemeClr val="accent4"/>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Calibri"/>
              </a:endParaRPr>
            </a:p>
          </p:txBody>
        </p:sp>
        <p:sp>
          <p:nvSpPr>
            <p:cNvPr id="8" name="TextBox 7">
              <a:extLst>
                <a:ext uri="{FF2B5EF4-FFF2-40B4-BE49-F238E27FC236}">
                  <a16:creationId xmlns:a16="http://schemas.microsoft.com/office/drawing/2014/main" id="{992E5C0F-811B-A72E-430D-9DE0D7650349}"/>
                </a:ext>
              </a:extLst>
            </p:cNvPr>
            <p:cNvSpPr txBox="1"/>
            <p:nvPr userDrawn="1"/>
          </p:nvSpPr>
          <p:spPr>
            <a:xfrm rot="5400000">
              <a:off x="11274077" y="3321278"/>
              <a:ext cx="1696937"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800" u="none" strike="noStrike" cap="none" spc="0" normalizeH="0" baseline="0" dirty="0">
                  <a:ln>
                    <a:noFill/>
                  </a:ln>
                  <a:solidFill>
                    <a:schemeClr val="bg1"/>
                  </a:solidFill>
                  <a:effectLst/>
                  <a:uFillTx/>
                  <a:latin typeface="Helvetica Neue Medium" panose="02000503000000020004" pitchFamily="2" charset="0"/>
                  <a:ea typeface="Helvetica Neue Medium" panose="02000503000000020004" pitchFamily="2" charset="0"/>
                  <a:cs typeface="Helvetica Neue Medium" panose="02000503000000020004" pitchFamily="2" charset="0"/>
                  <a:sym typeface="Calibri"/>
                </a:rPr>
                <a:t>Turning Point Brands (NYSE: TPB)</a:t>
              </a:r>
            </a:p>
          </p:txBody>
        </p:sp>
      </p:grpSp>
      <p:sp>
        <p:nvSpPr>
          <p:cNvPr id="9" name="Rectangle 8">
            <a:extLst>
              <a:ext uri="{FF2B5EF4-FFF2-40B4-BE49-F238E27FC236}">
                <a16:creationId xmlns:a16="http://schemas.microsoft.com/office/drawing/2014/main" id="{ABB96CB7-90D9-C3AB-907A-931BF87B47AF}"/>
              </a:ext>
            </a:extLst>
          </p:cNvPr>
          <p:cNvSpPr/>
          <p:nvPr userDrawn="1"/>
        </p:nvSpPr>
        <p:spPr>
          <a:xfrm>
            <a:off x="1" y="6567676"/>
            <a:ext cx="12192000" cy="290324"/>
          </a:xfrm>
          <a:prstGeom prst="rect">
            <a:avLst/>
          </a:prstGeom>
          <a:solidFill>
            <a:schemeClr val="bg1">
              <a:lumMod val="95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sp>
        <p:nvSpPr>
          <p:cNvPr id="10" name="Title 20">
            <a:extLst>
              <a:ext uri="{FF2B5EF4-FFF2-40B4-BE49-F238E27FC236}">
                <a16:creationId xmlns:a16="http://schemas.microsoft.com/office/drawing/2014/main" id="{D0F8E446-B29A-A488-B699-4DFAFFF022DD}"/>
              </a:ext>
            </a:extLst>
          </p:cNvPr>
          <p:cNvSpPr txBox="1"/>
          <p:nvPr userDrawn="1"/>
        </p:nvSpPr>
        <p:spPr>
          <a:xfrm>
            <a:off x="1454898" y="6514637"/>
            <a:ext cx="9261800" cy="3530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21926" tIns="121926" rIns="121926" bIns="121926" anchor="ctr">
            <a:spAutoFit/>
          </a:bodyPr>
          <a:lstStyle/>
          <a:p>
            <a:pPr marL="0" marR="0" lvl="0" indent="0" algn="ctr" defTabSz="457200" rtl="0" eaLnBrk="1" fontAlgn="auto" latinLnBrk="0" hangingPunct="0">
              <a:lnSpc>
                <a:spcPct val="130000"/>
              </a:lnSpc>
              <a:spcBef>
                <a:spcPts val="0"/>
              </a:spcBef>
              <a:spcAft>
                <a:spcPts val="0"/>
              </a:spcAft>
              <a:buClrTx/>
              <a:buSzTx/>
              <a:buFontTx/>
              <a:buNone/>
              <a:tabLst/>
              <a:defRPr sz="900" b="1" spc="300">
                <a:latin typeface="Poppins"/>
                <a:ea typeface="Poppins"/>
                <a:cs typeface="Poppins"/>
                <a:sym typeface="Poppins"/>
              </a:defRPr>
            </a:pPr>
            <a:r>
              <a:rPr kumimoji="0" lang="en-US" sz="600" b="1" i="0" u="none" strike="noStrike" kern="0" cap="none" spc="300" normalizeH="0" baseline="0" noProof="0" dirty="0">
                <a:ln>
                  <a:noFill/>
                </a:ln>
                <a:solidFill>
                  <a:schemeClr val="bg1">
                    <a:lumMod val="50000"/>
                  </a:scheme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Poppins"/>
              </a:rPr>
              <a:t>|  NYSE: TPB  |  5201 INTERCHANGE WAY, LOUISVILLE KY  |  TURNINGPOINTBRANDS.COM  |</a:t>
            </a:r>
            <a:endParaRPr kumimoji="0" sz="600" b="1" i="0" u="none" strike="noStrike" kern="0" cap="none" spc="300" normalizeH="0" baseline="0" noProof="0" dirty="0">
              <a:ln>
                <a:noFill/>
              </a:ln>
              <a:solidFill>
                <a:schemeClr val="bg1">
                  <a:lumMod val="50000"/>
                </a:scheme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Poppins"/>
            </a:endParaRPr>
          </a:p>
        </p:txBody>
      </p:sp>
      <p:sp>
        <p:nvSpPr>
          <p:cNvPr id="11" name="Text">
            <a:extLst>
              <a:ext uri="{FF2B5EF4-FFF2-40B4-BE49-F238E27FC236}">
                <a16:creationId xmlns:a16="http://schemas.microsoft.com/office/drawing/2014/main" id="{7397C638-878E-05E6-164D-C0FDC33F0825}"/>
              </a:ext>
            </a:extLst>
          </p:cNvPr>
          <p:cNvSpPr txBox="1"/>
          <p:nvPr userDrawn="1"/>
        </p:nvSpPr>
        <p:spPr>
          <a:xfrm>
            <a:off x="275378" y="6598832"/>
            <a:ext cx="238204"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sz="1200">
                <a:solidFill>
                  <a:srgbClr val="888888"/>
                </a:solidFill>
              </a:defRPr>
            </a:pPr>
            <a:fld id="{86CB4B4D-7CA3-9044-876B-883B54F8677D}" type="slidenum">
              <a:rPr kumimoji="0" sz="600" b="0" i="0" u="none" strike="noStrike" kern="0" cap="none" spc="0" normalizeH="0" baseline="0" noProof="0">
                <a:ln>
                  <a:noFill/>
                </a:ln>
                <a:solidFill>
                  <a:srgbClr val="888888"/>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Calibri"/>
              </a:rPr>
              <a:pPr marL="0" marR="0" lvl="0" indent="0" algn="ctr" defTabSz="914400" rtl="0" eaLnBrk="1" fontAlgn="auto" latinLnBrk="0" hangingPunct="0">
                <a:lnSpc>
                  <a:spcPct val="100000"/>
                </a:lnSpc>
                <a:spcBef>
                  <a:spcPts val="0"/>
                </a:spcBef>
                <a:spcAft>
                  <a:spcPts val="0"/>
                </a:spcAft>
                <a:buClrTx/>
                <a:buSzTx/>
                <a:buFontTx/>
                <a:buNone/>
                <a:tabLst/>
                <a:defRPr sz="1200">
                  <a:solidFill>
                    <a:srgbClr val="888888"/>
                  </a:solidFill>
                </a:defRPr>
              </a:pPr>
              <a:t>‹#›</a:t>
            </a:fld>
            <a:r>
              <a:rPr kumimoji="0" sz="600" b="0" i="0" u="none" strike="noStrike" kern="0" cap="none" spc="0" normalizeH="0" baseline="0" noProof="0" dirty="0">
                <a:ln>
                  <a:noFill/>
                </a:ln>
                <a:solidFill>
                  <a:srgbClr val="888888"/>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Calibri"/>
              </a:rPr>
              <a:t>￼</a:t>
            </a:r>
          </a:p>
        </p:txBody>
      </p:sp>
    </p:spTree>
    <p:extLst>
      <p:ext uri="{BB962C8B-B14F-4D97-AF65-F5344CB8AC3E}">
        <p14:creationId xmlns:p14="http://schemas.microsoft.com/office/powerpoint/2010/main" val="2255105550"/>
      </p:ext>
    </p:extLst>
  </p:cSld>
  <p:clrMap bg1="lt1" tx1="dk1" bg2="lt2" tx2="dk2" accent1="accent1" accent2="accent2" accent3="accent3" accent4="accent4" accent5="accent5" accent6="accent6" hlink="hlink" folHlink="folHlink"/>
  <p:transition spd="med"/>
  <p:txStyles>
    <p:titleStyle>
      <a:lvl1pPr marL="0" marR="0" indent="0" algn="l" defTabSz="914400" rtl="0" eaLnBrk="1" latinLnBrk="0" hangingPunct="1">
        <a:lnSpc>
          <a:spcPct val="90000"/>
        </a:lnSpc>
        <a:spcBef>
          <a:spcPts val="0"/>
        </a:spcBef>
        <a:spcAft>
          <a:spcPts val="0"/>
        </a:spcAft>
        <a:buClrTx/>
        <a:buSzTx/>
        <a:buFontTx/>
        <a:buNone/>
        <a:tabLst/>
        <a:defRPr sz="2400" b="1" i="0" u="none" strike="noStrike" cap="none" spc="0" baseline="0">
          <a:ln>
            <a:noFill/>
          </a:ln>
          <a:solidFill>
            <a:srgbClr val="000000"/>
          </a:solidFill>
          <a:uFillTx/>
          <a:latin typeface="Helvetica Neue" panose="02000403000000020004" pitchFamily="2"/>
          <a:ea typeface="Helvetica Neue" panose="02000403000000020004" pitchFamily="2"/>
          <a:cs typeface="Calibri Light"/>
          <a:sym typeface="Calibri Light"/>
        </a:defRPr>
      </a:lvl1pPr>
      <a:lvl2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2pPr>
      <a:lvl3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3pPr>
      <a:lvl4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4pPr>
      <a:lvl5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5pPr>
      <a:lvl6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6pPr>
      <a:lvl7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7pPr>
      <a:lvl8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8pPr>
      <a:lvl9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9pPr>
    </p:titleStyle>
    <p:bodyStyle>
      <a:lvl1pPr marL="228600" marR="0" indent="-228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1pPr>
      <a:lvl2pPr marL="723900" marR="0" indent="-2667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2pPr>
      <a:lvl3pPr marL="1234439" marR="0" indent="-320039"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3pPr>
      <a:lvl4pPr marL="17272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4pPr>
      <a:lvl5pPr marL="21844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5pPr>
      <a:lvl6pPr marL="26416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6pPr>
      <a:lvl7pPr marL="30988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7pPr>
      <a:lvl8pPr marL="35560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8pPr>
      <a:lvl9pPr marL="40132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9pPr>
    </p:bodyStyle>
    <p:otherStyle>
      <a:lvl1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22860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27432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32004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36576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3474720"/>
            <a:ext cx="9418320" cy="731520"/>
          </a:xfrm>
          <a:prstGeom prst="rect">
            <a:avLst/>
          </a:prstGeom>
          <a:noFill/>
        </p:spPr>
        <p:txBody>
          <a:bodyPr wrap="square">
            <a:spAutoFit/>
          </a:bodyPr>
          <a:lstStyle/>
          <a:p>
            <a:pPr algn="ctr"/>
            <a:r>
              <a:rPr b="1" sz="4000">
                <a:solidFill>
                  <a:srgbClr val="00B0F0"/>
                </a:solidFill>
              </a:rPr>
              <a:t>FRE LABS</a:t>
            </a:r>
          </a:p>
        </p:txBody>
      </p:sp>
      <p:sp>
        <p:nvSpPr>
          <p:cNvPr id="3" name="TextBox 2"/>
          <p:cNvSpPr txBox="1"/>
          <p:nvPr/>
        </p:nvSpPr>
        <p:spPr>
          <a:xfrm>
            <a:off x="1371600" y="4297680"/>
            <a:ext cx="9418320" cy="457200"/>
          </a:xfrm>
          <a:prstGeom prst="rect">
            <a:avLst/>
          </a:prstGeom>
          <a:noFill/>
        </p:spPr>
        <p:txBody>
          <a:bodyPr wrap="square">
            <a:spAutoFit/>
          </a:bodyPr>
          <a:lstStyle/>
          <a:p>
            <a:pPr algn="ctr"/>
            <a:r>
              <a:rPr b="0" sz="2000">
                <a:solidFill>
                  <a:srgbClr val="FFFFFF"/>
                </a:solidFill>
              </a:rPr>
              <a:t>The Art of the Possible</a:t>
            </a:r>
          </a:p>
        </p:txBody>
      </p:sp>
      <p:sp>
        <p:nvSpPr>
          <p:cNvPr id="4" name="TextBox 3"/>
          <p:cNvSpPr txBox="1"/>
          <p:nvPr/>
        </p:nvSpPr>
        <p:spPr>
          <a:xfrm>
            <a:off x="1371600" y="4800600"/>
            <a:ext cx="9418320" cy="365760"/>
          </a:xfrm>
          <a:prstGeom prst="rect">
            <a:avLst/>
          </a:prstGeom>
          <a:noFill/>
        </p:spPr>
        <p:txBody>
          <a:bodyPr wrap="square">
            <a:spAutoFit/>
          </a:bodyPr>
          <a:lstStyle/>
          <a:p>
            <a:pPr algn="ctr"/>
            <a:r>
              <a:rPr b="0" sz="1600">
                <a:solidFill>
                  <a:srgbClr val="FFFFFF"/>
                </a:solidFill>
              </a:rPr>
              <a:t>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32720" cy="1097280"/>
          </a:xfrm>
          <a:prstGeom prst="rect">
            <a:avLst/>
          </a:prstGeom>
          <a:noFill/>
        </p:spPr>
        <p:txBody>
          <a:bodyPr wrap="square">
            <a:spAutoFit/>
          </a:bodyPr>
          <a:lstStyle/>
          <a:p>
            <a:pPr algn="ctr"/>
            <a:r>
              <a:rPr b="1" sz="5200">
                <a:solidFill>
                  <a:srgbClr val="FFFFFF"/>
                </a:solidFill>
              </a:rPr>
              <a:t>THE CONVERSATION</a:t>
            </a:r>
          </a:p>
        </p:txBody>
      </p:sp>
      <p:sp>
        <p:nvSpPr>
          <p:cNvPr id="3" name="TextBox 2"/>
          <p:cNvSpPr txBox="1"/>
          <p:nvPr/>
        </p:nvSpPr>
        <p:spPr>
          <a:xfrm>
            <a:off x="914400" y="3749039"/>
            <a:ext cx="10332720" cy="457200"/>
          </a:xfrm>
          <a:prstGeom prst="rect">
            <a:avLst/>
          </a:prstGeom>
          <a:noFill/>
        </p:spPr>
        <p:txBody>
          <a:bodyPr wrap="square">
            <a:spAutoFit/>
          </a:bodyPr>
          <a:lstStyle/>
          <a:p>
            <a:pPr algn="ctr"/>
            <a:r>
              <a:rPr b="0" sz="2000">
                <a:solidFill>
                  <a:srgbClr val="FFFFFF"/>
                </a:solidFill>
              </a:rPr>
              <a:t>HERE'S WHAT WE'RE BUILDING. HERE'S WHERE WE NEED YOUR THINKING.</a:t>
            </a:r>
          </a:p>
        </p:txBody>
      </p:sp>
      <p:sp>
        <p:nvSpPr>
          <p:cNvPr id="4" name="TextBox 3"/>
          <p:cNvSpPr txBox="1"/>
          <p:nvPr/>
        </p:nvSpPr>
        <p:spPr>
          <a:xfrm>
            <a:off x="1371600" y="4389120"/>
            <a:ext cx="9418320" cy="1828800"/>
          </a:xfrm>
          <a:prstGeom prst="rect">
            <a:avLst/>
          </a:prstGeom>
          <a:noFill/>
        </p:spPr>
        <p:txBody>
          <a:bodyPr wrap="square">
            <a:spAutoFit/>
          </a:bodyPr>
          <a:lstStyle/>
          <a:p>
            <a:pPr algn="l"/>
            <a:r>
              <a:rPr b="0" sz="1400">
                <a:solidFill>
                  <a:srgbClr val="FFFFFF"/>
                </a:solidFill>
              </a:rPr>
              <a:t>1. What is the size of the prize for caffeine — and are there synergies between caffeine and nicotine pouches?
2. What metrics beyond revenue should we track to gauge success? What ancillary benefits flow to TPB?
3. What's the right Y1 marketing spend to prove the concept without over-committing?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00000"/>
                </a:solidFill>
              </a:rPr>
              <a:t>WHY FRE LABS EXISTS</a:t>
            </a:r>
          </a:p>
        </p:txBody>
      </p:sp>
      <p:sp>
        <p:nvSpPr>
          <p:cNvPr id="3" name="TextBox 2"/>
          <p:cNvSpPr txBox="1"/>
          <p:nvPr/>
        </p:nvSpPr>
        <p:spPr>
          <a:xfrm>
            <a:off x="457200" y="1005840"/>
            <a:ext cx="3474720" cy="365760"/>
          </a:xfrm>
          <a:prstGeom prst="rect">
            <a:avLst/>
          </a:prstGeom>
          <a:noFill/>
        </p:spPr>
        <p:txBody>
          <a:bodyPr wrap="square">
            <a:spAutoFit/>
          </a:bodyPr>
          <a:lstStyle/>
          <a:p>
            <a:pPr algn="l"/>
            <a:r>
              <a:rPr b="1" sz="1400">
                <a:solidFill>
                  <a:srgbClr val="00B0F0"/>
                </a:solidFill>
              </a:rPr>
              <a:t>White Label Opportunity</a:t>
            </a:r>
          </a:p>
        </p:txBody>
      </p:sp>
      <p:sp>
        <p:nvSpPr>
          <p:cNvPr id="4" name="TextBox 3"/>
          <p:cNvSpPr txBox="1"/>
          <p:nvPr/>
        </p:nvSpPr>
        <p:spPr>
          <a:xfrm>
            <a:off x="457200" y="1463040"/>
            <a:ext cx="3474720" cy="4389120"/>
          </a:xfrm>
          <a:prstGeom prst="rect">
            <a:avLst/>
          </a:prstGeom>
          <a:noFill/>
        </p:spPr>
        <p:txBody>
          <a:bodyPr wrap="square">
            <a:spAutoFit/>
          </a:bodyPr>
          <a:lstStyle/>
          <a:p>
            <a:pPr spc="100"/>
            <a:r>
              <a:rPr sz="1300">
                <a:solidFill>
                  <a:srgbClr val="000000"/>
                </a:solidFill>
              </a:rPr>
              <a:t>• License proven products from quality manufacturers — sell under FRE Labs branding</a:t>
            </a:r>
          </a:p>
          <a:p>
            <a:pPr spc="100"/>
            <a:r>
              <a:rPr sz="1300">
                <a:solidFill>
                  <a:srgbClr val="000000"/>
                </a:solidFill>
              </a:rPr>
              <a:t>• Skip internal R&amp;D cycles entirely</a:t>
            </a:r>
          </a:p>
          <a:p>
            <a:pPr spc="100"/>
            <a:r>
              <a:rPr sz="1300">
                <a:solidFill>
                  <a:srgbClr val="000000"/>
                </a:solidFill>
              </a:rPr>
              <a:t>• Launch new flavors and formats in weeks, not months</a:t>
            </a:r>
          </a:p>
          <a:p>
            <a:pPr spc="100"/>
            <a:r>
              <a:rPr sz="1300">
                <a:solidFill>
                  <a:srgbClr val="000000"/>
                </a:solidFill>
              </a:rPr>
              <a:t>• Test with real consumers before committing to full production</a:t>
            </a:r>
          </a:p>
        </p:txBody>
      </p:sp>
      <p:sp>
        <p:nvSpPr>
          <p:cNvPr id="5" name="TextBox 4"/>
          <p:cNvSpPr txBox="1"/>
          <p:nvPr/>
        </p:nvSpPr>
        <p:spPr>
          <a:xfrm>
            <a:off x="4206240" y="1005840"/>
            <a:ext cx="3474720" cy="365760"/>
          </a:xfrm>
          <a:prstGeom prst="rect">
            <a:avLst/>
          </a:prstGeom>
          <a:noFill/>
        </p:spPr>
        <p:txBody>
          <a:bodyPr wrap="square">
            <a:spAutoFit/>
          </a:bodyPr>
          <a:lstStyle/>
          <a:p>
            <a:pPr algn="l"/>
            <a:r>
              <a:rPr b="1" sz="1400">
                <a:solidFill>
                  <a:srgbClr val="00B0F0"/>
                </a:solidFill>
              </a:rPr>
              <a:t>Permission from the Consumer</a:t>
            </a:r>
          </a:p>
        </p:txBody>
      </p:sp>
      <p:sp>
        <p:nvSpPr>
          <p:cNvPr id="6" name="TextBox 5"/>
          <p:cNvSpPr txBox="1"/>
          <p:nvPr/>
        </p:nvSpPr>
        <p:spPr>
          <a:xfrm>
            <a:off x="4206240" y="1463040"/>
            <a:ext cx="3474720" cy="4389120"/>
          </a:xfrm>
          <a:prstGeom prst="rect">
            <a:avLst/>
          </a:prstGeom>
          <a:noFill/>
        </p:spPr>
        <p:txBody>
          <a:bodyPr wrap="square">
            <a:spAutoFit/>
          </a:bodyPr>
          <a:lstStyle/>
          <a:p>
            <a:pPr spc="100"/>
            <a:r>
              <a:rPr sz="1300">
                <a:solidFill>
                  <a:srgbClr val="000000"/>
                </a:solidFill>
              </a:rPr>
              <a:t>• Sub-brand absorbs all experimentation risk</a:t>
            </a:r>
          </a:p>
          <a:p>
            <a:pPr spc="100"/>
            <a:r>
              <a:rPr sz="1300">
                <a:solidFill>
                  <a:srgbClr val="000000"/>
                </a:solidFill>
              </a:rPr>
              <a:t>• If a flavor misses, it's a LABS miss — not a FRE miss</a:t>
            </a:r>
          </a:p>
          <a:p>
            <a:pPr spc="100"/>
            <a:r>
              <a:rPr sz="1300">
                <a:solidFill>
                  <a:srgbClr val="000000"/>
                </a:solidFill>
              </a:rPr>
              <a:t>• Core brand equity stays untouched</a:t>
            </a:r>
          </a:p>
          <a:p>
            <a:pPr spc="100"/>
            <a:r>
              <a:rPr sz="1300">
                <a:solidFill>
                  <a:srgbClr val="000000"/>
                </a:solidFill>
              </a:rPr>
              <a:t>• Consumers already signal appetite for flavor-forward, lower-strength options</a:t>
            </a:r>
          </a:p>
        </p:txBody>
      </p:sp>
      <p:sp>
        <p:nvSpPr>
          <p:cNvPr id="7" name="TextBox 6"/>
          <p:cNvSpPr txBox="1"/>
          <p:nvPr/>
        </p:nvSpPr>
        <p:spPr>
          <a:xfrm>
            <a:off x="7955279" y="1005840"/>
            <a:ext cx="3474720" cy="365760"/>
          </a:xfrm>
          <a:prstGeom prst="rect">
            <a:avLst/>
          </a:prstGeom>
          <a:noFill/>
        </p:spPr>
        <p:txBody>
          <a:bodyPr wrap="square">
            <a:spAutoFit/>
          </a:bodyPr>
          <a:lstStyle/>
          <a:p>
            <a:pPr algn="l"/>
            <a:r>
              <a:rPr b="1" sz="1400">
                <a:solidFill>
                  <a:srgbClr val="00B0F0"/>
                </a:solidFill>
              </a:rPr>
              <a:t>New Strengths, New Flavors</a:t>
            </a:r>
          </a:p>
        </p:txBody>
      </p:sp>
      <p:sp>
        <p:nvSpPr>
          <p:cNvPr id="8" name="TextBox 7"/>
          <p:cNvSpPr txBox="1"/>
          <p:nvPr/>
        </p:nvSpPr>
        <p:spPr>
          <a:xfrm>
            <a:off x="7955279" y="1463040"/>
            <a:ext cx="3474720" cy="4389120"/>
          </a:xfrm>
          <a:prstGeom prst="rect">
            <a:avLst/>
          </a:prstGeom>
          <a:noFill/>
        </p:spPr>
        <p:txBody>
          <a:bodyPr wrap="square">
            <a:spAutoFit/>
          </a:bodyPr>
          <a:lstStyle/>
          <a:p>
            <a:pPr spc="100"/>
            <a:r>
              <a:rPr sz="1300">
                <a:solidFill>
                  <a:srgbClr val="000000"/>
                </a:solidFill>
              </a:rPr>
              <a:t>• Reach consumers who aren't buying Core FRE today</a:t>
            </a:r>
          </a:p>
          <a:p>
            <a:pPr spc="100"/>
            <a:r>
              <a:rPr sz="1300">
                <a:solidFill>
                  <a:srgbClr val="000000"/>
                </a:solidFill>
              </a:rPr>
              <a:t>• Flavor-forward territory: fruit, citrus, dessert, coffee</a:t>
            </a:r>
          </a:p>
          <a:p>
            <a:pPr spc="100"/>
            <a:r>
              <a:rPr sz="1300">
                <a:solidFill>
                  <a:srgbClr val="000000"/>
                </a:solidFill>
              </a:rPr>
              <a:t>• Lower strength entry points (4mg, 8mg) bring new-to-pouch consumers in</a:t>
            </a:r>
          </a:p>
          <a:p>
            <a:pPr spc="100"/>
            <a:r>
              <a:rPr sz="1300">
                <a:solidFill>
                  <a:srgbClr val="000000"/>
                </a:solidFill>
              </a:rPr>
              <a:t>• Expand the addressable market without repositioning the master brand</a:t>
            </a:r>
          </a:p>
        </p:txBody>
      </p:sp>
      <p:sp>
        <p:nvSpPr>
          <p:cNvPr id="9" name="TextBox 8"/>
          <p:cNvSpPr txBox="1"/>
          <p:nvPr/>
        </p:nvSpPr>
        <p:spPr>
          <a:xfrm>
            <a:off x="457200" y="6217920"/>
            <a:ext cx="10972800" cy="320040"/>
          </a:xfrm>
          <a:prstGeom prst="rect">
            <a:avLst/>
          </a:prstGeom>
          <a:noFill/>
        </p:spPr>
        <p:txBody>
          <a:bodyPr wrap="square">
            <a:spAutoFit/>
          </a:bodyPr>
          <a:lstStyle/>
          <a:p>
            <a:pPr algn="l"/>
            <a:r>
              <a:rPr b="0" sz="900">
                <a:solidFill>
                  <a:srgbClr val="C0C0C0"/>
                </a:solidFill>
              </a:rPr>
              <a:t>Source: Internal FRE brand strategy, March 2026. FRE Labs is not a product — it's a platform for controlled experimentation at speed.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00000"/>
                </a:solidFill>
              </a:rPr>
              <a:t>THE PARTNER LANDSCAPE</a:t>
            </a:r>
          </a:p>
        </p:txBody>
      </p:sp>
      <p:sp>
        <p:nvSpPr>
          <p:cNvPr id="3" name="TextBox 2"/>
          <p:cNvSpPr txBox="1"/>
          <p:nvPr/>
        </p:nvSpPr>
        <p:spPr>
          <a:xfrm>
            <a:off x="457200" y="1051560"/>
            <a:ext cx="11247120" cy="5029200"/>
          </a:xfrm>
          <a:prstGeom prst="rect">
            <a:avLst/>
          </a:prstGeom>
          <a:noFill/>
        </p:spPr>
        <p:txBody>
          <a:bodyPr wrap="square">
            <a:spAutoFit/>
          </a:bodyPr>
          <a:lstStyle/>
          <a:p>
            <a:pPr spc="100"/>
            <a:r>
              <a:rPr sz="1600">
                <a:solidFill>
                  <a:srgbClr val="000000"/>
                </a:solidFill>
              </a:rPr>
              <a:t>• LUCY (Nicotine) — White-label partner. 3 flavors (Mango, Cinnamon, Espresso) × 2 strengths (4mg, 8mg) = 6 SKUs. 15-ct cans. Deal locked. DTC-only via frepouch.com.</a:t>
            </a:r>
          </a:p>
          <a:p>
            <a:pPr spc="100"/>
            <a:r>
              <a:rPr sz="1600">
                <a:solidFill>
                  <a:srgbClr val="000000"/>
                </a:solidFill>
              </a:rPr>
              <a:t>• </a:t>
            </a:r>
          </a:p>
          <a:p>
            <a:pPr spc="100"/>
            <a:r>
              <a:rPr sz="1600">
                <a:solidFill>
                  <a:srgbClr val="000000"/>
                </a:solidFill>
              </a:rPr>
              <a:t>• JUICE HEAD / STREAMLINE (Nicotine) — White-label partner. 5 fruit-mint blends × 2 strengths (6mg, 12mg) = 10 SKUs. Streamline = brand owner + PMTA holder; MH Global = mfg. ⚠ RTF/RTR letter on PMTA — regulatory risk.</a:t>
            </a:r>
          </a:p>
          <a:p>
            <a:pPr spc="100"/>
            <a:r>
              <a:rPr sz="1600">
                <a:solidFill>
                  <a:srgbClr val="000000"/>
                </a:solidFill>
              </a:rPr>
              <a:t>• </a:t>
            </a:r>
          </a:p>
          <a:p>
            <a:pPr spc="100"/>
            <a:r>
              <a:rPr sz="1600">
                <a:solidFill>
                  <a:srgbClr val="000000"/>
                </a:solidFill>
              </a:rPr>
              <a:t>• DENSSI (Caffeine) — European manufacturer, Dallas TX ops. 100mg caffeine/pouch. Energy-forward positioning. Partnership in progress.</a:t>
            </a:r>
          </a:p>
          <a:p>
            <a:pPr spc="100"/>
            <a:r>
              <a:rPr sz="1600">
                <a:solidFill>
                  <a:srgbClr val="000000"/>
                </a:solidFill>
              </a:rPr>
              <a:t>• </a:t>
            </a:r>
          </a:p>
          <a:p>
            <a:pPr spc="100"/>
            <a:r>
              <a:rPr sz="1600">
                <a:solidFill>
                  <a:srgbClr val="000000"/>
                </a:solidFill>
              </a:rPr>
              <a:t>• TeaZa (Caffeine) — Caffeine pouch partner (NOT a competitor). Cinnamon and Coffee flavors. 428% retail growth in 14 months (NielsenIQ). 4,027 stores, $120K/mo and growing. Pricing power signal: avg unit price ↑13% during growth.</a:t>
            </a:r>
          </a:p>
        </p:txBody>
      </p:sp>
      <p:sp>
        <p:nvSpPr>
          <p:cNvPr id="4" name="TextBox 3"/>
          <p:cNvSpPr txBox="1"/>
          <p:nvPr/>
        </p:nvSpPr>
        <p:spPr>
          <a:xfrm>
            <a:off x="457200" y="6217920"/>
            <a:ext cx="10972800" cy="320040"/>
          </a:xfrm>
          <a:prstGeom prst="rect">
            <a:avLst/>
          </a:prstGeom>
          <a:noFill/>
        </p:spPr>
        <p:txBody>
          <a:bodyPr wrap="square">
            <a:spAutoFit/>
          </a:bodyPr>
          <a:lstStyle/>
          <a:p>
            <a:pPr algn="l"/>
            <a:r>
              <a:rPr b="0" sz="900">
                <a:solidFill>
                  <a:srgbClr val="C0C0C0"/>
                </a:solidFill>
              </a:rPr>
              <a:t>Source: Internal deal tracker, NielsenIQ xAOC Jan 2025–Feb 2026. All products sold as 'FRE Labs' branding | $4.99 MSRP | DTC-only in Y1.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00000"/>
                </a:solidFill>
              </a:rPr>
              <a:t>CORE FRE VS. FRE LABS</a:t>
            </a:r>
          </a:p>
        </p:txBody>
      </p:sp>
      <p:sp>
        <p:nvSpPr>
          <p:cNvPr id="3" name="TextBox 2"/>
          <p:cNvSpPr txBox="1"/>
          <p:nvPr/>
        </p:nvSpPr>
        <p:spPr>
          <a:xfrm>
            <a:off x="457200" y="1005840"/>
            <a:ext cx="5303520" cy="365760"/>
          </a:xfrm>
          <a:prstGeom prst="rect">
            <a:avLst/>
          </a:prstGeom>
          <a:noFill/>
        </p:spPr>
        <p:txBody>
          <a:bodyPr wrap="square">
            <a:spAutoFit/>
          </a:bodyPr>
          <a:lstStyle/>
          <a:p>
            <a:pPr algn="l"/>
            <a:r>
              <a:rPr b="1" sz="1500">
                <a:solidFill>
                  <a:srgbClr val="00B0F0"/>
                </a:solidFill>
              </a:rPr>
              <a:t>Core FRE</a:t>
            </a:r>
          </a:p>
        </p:txBody>
      </p:sp>
      <p:sp>
        <p:nvSpPr>
          <p:cNvPr id="4" name="TextBox 3"/>
          <p:cNvSpPr txBox="1"/>
          <p:nvPr/>
        </p:nvSpPr>
        <p:spPr>
          <a:xfrm>
            <a:off x="457200" y="1417320"/>
            <a:ext cx="5303520" cy="18288"/>
          </a:xfrm>
          <a:prstGeom prst="rect">
            <a:avLst/>
          </a:prstGeom>
          <a:noFill/>
        </p:spPr>
        <p:txBody>
          <a:bodyPr wrap="square">
            <a:spAutoFit/>
          </a:bodyPr>
          <a:lstStyle/>
          <a:p>
            <a:pPr algn="l"/>
            <a:r>
              <a:rPr b="0" sz="100">
                <a:solidFill>
                  <a:srgbClr val="00B0F0"/>
                </a:solidFill>
              </a:rPr>
              <a:t/>
            </a:r>
          </a:p>
        </p:txBody>
      </p:sp>
      <p:sp>
        <p:nvSpPr>
          <p:cNvPr id="5" name="TextBox 4"/>
          <p:cNvSpPr txBox="1"/>
          <p:nvPr/>
        </p:nvSpPr>
        <p:spPr>
          <a:xfrm>
            <a:off x="457200" y="1508760"/>
            <a:ext cx="5303520" cy="4389120"/>
          </a:xfrm>
          <a:prstGeom prst="rect">
            <a:avLst/>
          </a:prstGeom>
          <a:noFill/>
        </p:spPr>
        <p:txBody>
          <a:bodyPr wrap="square">
            <a:spAutoFit/>
          </a:bodyPr>
          <a:lstStyle/>
          <a:p>
            <a:pPr spc="100"/>
            <a:r>
              <a:rPr sz="1400">
                <a:solidFill>
                  <a:srgbClr val="000000"/>
                </a:solidFill>
              </a:rPr>
              <a:t>• 6 SKUs across 4 flavor profiles: Mint, Wintergreen, Sweet/Original, Lush/Watermelon</a:t>
            </a:r>
          </a:p>
          <a:p>
            <a:pPr spc="100"/>
            <a:r>
              <a:rPr sz="1400">
                <a:solidFill>
                  <a:srgbClr val="000000"/>
                </a:solidFill>
              </a:rPr>
              <a:t>• 5 strength tiers: 3mg, 6mg, 9mg, 12mg, 15mg</a:t>
            </a:r>
          </a:p>
          <a:p>
            <a:pPr spc="100"/>
            <a:r>
              <a:rPr sz="1400">
                <a:solidFill>
                  <a:srgbClr val="000000"/>
                </a:solidFill>
              </a:rPr>
              <a:t>• Consumer: Performance-focused, strength-driven</a:t>
            </a:r>
          </a:p>
          <a:p>
            <a:pPr spc="100"/>
            <a:r>
              <a:rPr sz="1400">
                <a:solidFill>
                  <a:srgbClr val="000000"/>
                </a:solidFill>
              </a:rPr>
              <a:t>• Loyal base — Mint + Wintergreen = 66% of DTC revenue</a:t>
            </a:r>
          </a:p>
          <a:p>
            <a:pPr spc="100"/>
            <a:r>
              <a:rPr sz="1400">
                <a:solidFill>
                  <a:srgbClr val="000000"/>
                </a:solidFill>
              </a:rPr>
              <a:t>• $4.99 MSRP | $3.90 WHSL</a:t>
            </a:r>
          </a:p>
        </p:txBody>
      </p:sp>
      <p:sp>
        <p:nvSpPr>
          <p:cNvPr id="6" name="TextBox 5"/>
          <p:cNvSpPr txBox="1"/>
          <p:nvPr/>
        </p:nvSpPr>
        <p:spPr>
          <a:xfrm>
            <a:off x="6400800" y="1005840"/>
            <a:ext cx="5303520" cy="365760"/>
          </a:xfrm>
          <a:prstGeom prst="rect">
            <a:avLst/>
          </a:prstGeom>
          <a:noFill/>
        </p:spPr>
        <p:txBody>
          <a:bodyPr wrap="square">
            <a:spAutoFit/>
          </a:bodyPr>
          <a:lstStyle/>
          <a:p>
            <a:pPr algn="l"/>
            <a:r>
              <a:rPr b="1" sz="1500">
                <a:solidFill>
                  <a:srgbClr val="00B0F0"/>
                </a:solidFill>
              </a:rPr>
              <a:t>FRE Labs</a:t>
            </a:r>
          </a:p>
        </p:txBody>
      </p:sp>
      <p:sp>
        <p:nvSpPr>
          <p:cNvPr id="7" name="TextBox 6"/>
          <p:cNvSpPr txBox="1"/>
          <p:nvPr/>
        </p:nvSpPr>
        <p:spPr>
          <a:xfrm>
            <a:off x="6400800" y="1417320"/>
            <a:ext cx="5303520" cy="18288"/>
          </a:xfrm>
          <a:prstGeom prst="rect">
            <a:avLst/>
          </a:prstGeom>
          <a:noFill/>
        </p:spPr>
        <p:txBody>
          <a:bodyPr wrap="square">
            <a:spAutoFit/>
          </a:bodyPr>
          <a:lstStyle/>
          <a:p>
            <a:pPr algn="l"/>
            <a:r>
              <a:rPr b="0" sz="100">
                <a:solidFill>
                  <a:srgbClr val="00B0F0"/>
                </a:solidFill>
              </a:rPr>
              <a:t/>
            </a:r>
          </a:p>
        </p:txBody>
      </p:sp>
      <p:sp>
        <p:nvSpPr>
          <p:cNvPr id="8" name="TextBox 7"/>
          <p:cNvSpPr txBox="1"/>
          <p:nvPr/>
        </p:nvSpPr>
        <p:spPr>
          <a:xfrm>
            <a:off x="6400800" y="1508760"/>
            <a:ext cx="5303520" cy="4389120"/>
          </a:xfrm>
          <a:prstGeom prst="rect">
            <a:avLst/>
          </a:prstGeom>
          <a:noFill/>
        </p:spPr>
        <p:txBody>
          <a:bodyPr wrap="square">
            <a:spAutoFit/>
          </a:bodyPr>
          <a:lstStyle/>
          <a:p>
            <a:pPr spc="100"/>
            <a:r>
              <a:rPr sz="1400">
                <a:solidFill>
                  <a:srgbClr val="000000"/>
                </a:solidFill>
              </a:rPr>
              <a:t>• Fruit, citrus, dessert, coffee + caffeine pouches</a:t>
            </a:r>
          </a:p>
          <a:p>
            <a:pPr spc="100"/>
            <a:r>
              <a:rPr sz="1400">
                <a:solidFill>
                  <a:srgbClr val="000000"/>
                </a:solidFill>
              </a:rPr>
              <a:t>• Lucy: Mango, Cinnamon, Espresso (4mg, 8mg)</a:t>
            </a:r>
          </a:p>
          <a:p>
            <a:pPr spc="100"/>
            <a:r>
              <a:rPr sz="1400">
                <a:solidFill>
                  <a:srgbClr val="000000"/>
                </a:solidFill>
              </a:rPr>
              <a:t>• Juice Head: 5 fruit-mint blends (6mg, 12mg)</a:t>
            </a:r>
          </a:p>
          <a:p>
            <a:pPr spc="100"/>
            <a:r>
              <a:rPr sz="1400">
                <a:solidFill>
                  <a:srgbClr val="000000"/>
                </a:solidFill>
              </a:rPr>
              <a:t>• DENSSI + TeaZa: caffeine pouches (non-nicotine)</a:t>
            </a:r>
          </a:p>
          <a:p>
            <a:pPr spc="100"/>
            <a:r>
              <a:rPr sz="1400">
                <a:solidFill>
                  <a:srgbClr val="000000"/>
                </a:solidFill>
              </a:rPr>
              <a:t>• Consumer: Flavor-forward, design-curious, new-to-pouch</a:t>
            </a:r>
          </a:p>
          <a:p>
            <a:pPr spc="100"/>
            <a:r>
              <a:rPr sz="1400">
                <a:solidFill>
                  <a:srgbClr val="000000"/>
                </a:solidFill>
              </a:rPr>
              <a:t>• $4.99 MSRP (matching Core FRE)</a:t>
            </a:r>
          </a:p>
          <a:p>
            <a:pPr spc="100"/>
            <a:r>
              <a:rPr sz="1400">
                <a:solidFill>
                  <a:srgbClr val="000000"/>
                </a:solidFill>
              </a:rPr>
              <a:t>• → Discover through flavor. Graduate through strength.</a:t>
            </a:r>
          </a:p>
        </p:txBody>
      </p:sp>
      <p:sp>
        <p:nvSpPr>
          <p:cNvPr id="9" name="TextBox 8"/>
          <p:cNvSpPr txBox="1"/>
          <p:nvPr/>
        </p:nvSpPr>
        <p:spPr>
          <a:xfrm>
            <a:off x="457200" y="6217920"/>
            <a:ext cx="10972800" cy="320040"/>
          </a:xfrm>
          <a:prstGeom prst="rect">
            <a:avLst/>
          </a:prstGeom>
          <a:noFill/>
        </p:spPr>
        <p:txBody>
          <a:bodyPr wrap="square">
            <a:spAutoFit/>
          </a:bodyPr>
          <a:lstStyle/>
          <a:p>
            <a:pPr algn="l"/>
            <a:r>
              <a:rPr b="0" sz="900">
                <a:solidFill>
                  <a:srgbClr val="C0C0C0"/>
                </a:solidFill>
              </a:rPr>
              <a:t>Source: Internal FRE portfolio data, frepouch.com DTC analytics (Mar 2025–Mar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00000"/>
                </a:solidFill>
              </a:rPr>
              <a:t>THE PLAYBOOK ALREADY EXISTS</a:t>
            </a:r>
          </a:p>
        </p:txBody>
      </p:sp>
      <p:sp>
        <p:nvSpPr>
          <p:cNvPr id="3" name="TextBox 2"/>
          <p:cNvSpPr txBox="1"/>
          <p:nvPr/>
        </p:nvSpPr>
        <p:spPr>
          <a:xfrm>
            <a:off x="457200" y="1005840"/>
            <a:ext cx="3474720" cy="365760"/>
          </a:xfrm>
          <a:prstGeom prst="rect">
            <a:avLst/>
          </a:prstGeom>
          <a:noFill/>
        </p:spPr>
        <p:txBody>
          <a:bodyPr wrap="square">
            <a:spAutoFit/>
          </a:bodyPr>
          <a:lstStyle/>
          <a:p>
            <a:pPr algn="l"/>
            <a:r>
              <a:rPr b="1" sz="1400">
                <a:solidFill>
                  <a:srgbClr val="00B0F0"/>
                </a:solidFill>
              </a:rPr>
              <a:t>Jones Soda — Engagement</a:t>
            </a:r>
          </a:p>
        </p:txBody>
      </p:sp>
      <p:sp>
        <p:nvSpPr>
          <p:cNvPr id="4" name="TextBox 3"/>
          <p:cNvSpPr txBox="1"/>
          <p:nvPr/>
        </p:nvSpPr>
        <p:spPr>
          <a:xfrm>
            <a:off x="457200" y="1463040"/>
            <a:ext cx="3474720" cy="4389120"/>
          </a:xfrm>
          <a:prstGeom prst="rect">
            <a:avLst/>
          </a:prstGeom>
          <a:noFill/>
        </p:spPr>
        <p:txBody>
          <a:bodyPr wrap="square">
            <a:spAutoFit/>
          </a:bodyPr>
          <a:lstStyle/>
          <a:p>
            <a:pPr spc="100"/>
            <a:r>
              <a:rPr sz="1300">
                <a:solidFill>
                  <a:srgbClr val="000000"/>
                </a:solidFill>
              </a:rPr>
              <a:t>• Community-submitted labels + flavor voting</a:t>
            </a:r>
          </a:p>
          <a:p>
            <a:pPr spc="100"/>
            <a:r>
              <a:rPr sz="1300">
                <a:solidFill>
                  <a:srgbClr val="000000"/>
                </a:solidFill>
              </a:rPr>
              <a:t>• Consumers owned the brand identity</a:t>
            </a:r>
          </a:p>
          <a:p>
            <a:pPr spc="100"/>
            <a:r>
              <a:rPr sz="1300">
                <a:solidFill>
                  <a:srgbClr val="000000"/>
                </a:solidFill>
              </a:rPr>
              <a:t>• Mystery flavors drove repeat + social sharing</a:t>
            </a:r>
          </a:p>
          <a:p>
            <a:pPr spc="100"/>
            <a:r>
              <a:rPr sz="1300">
                <a:solidFill>
                  <a:srgbClr val="000000"/>
                </a:solidFill>
              </a:rPr>
              <a:t>• Cult following with near-zero ad spend</a:t>
            </a:r>
          </a:p>
          <a:p>
            <a:pPr spc="100"/>
            <a:r>
              <a:rPr sz="1300">
                <a:solidFill>
                  <a:srgbClr val="000000"/>
                </a:solidFill>
              </a:rPr>
              <a:t>• </a:t>
            </a:r>
          </a:p>
          <a:p>
            <a:pPr spc="100"/>
            <a:r>
              <a:rPr sz="1300">
                <a:solidFill>
                  <a:srgbClr val="000000"/>
                </a:solidFill>
              </a:rPr>
              <a:t>• → FRE LABS LESSON: Co-creation is marketing. Flavor voting = zero-cost market research that markets itself.</a:t>
            </a:r>
          </a:p>
        </p:txBody>
      </p:sp>
      <p:sp>
        <p:nvSpPr>
          <p:cNvPr id="5" name="TextBox 4"/>
          <p:cNvSpPr txBox="1"/>
          <p:nvPr/>
        </p:nvSpPr>
        <p:spPr>
          <a:xfrm>
            <a:off x="4206240" y="1005840"/>
            <a:ext cx="3474720" cy="365760"/>
          </a:xfrm>
          <a:prstGeom prst="rect">
            <a:avLst/>
          </a:prstGeom>
          <a:noFill/>
        </p:spPr>
        <p:txBody>
          <a:bodyPr wrap="square">
            <a:spAutoFit/>
          </a:bodyPr>
          <a:lstStyle/>
          <a:p>
            <a:pPr algn="l"/>
            <a:r>
              <a:rPr b="1" sz="1400">
                <a:solidFill>
                  <a:srgbClr val="00B0F0"/>
                </a:solidFill>
              </a:rPr>
              <a:t>Liquid Death — Design</a:t>
            </a:r>
          </a:p>
        </p:txBody>
      </p:sp>
      <p:sp>
        <p:nvSpPr>
          <p:cNvPr id="6" name="TextBox 5"/>
          <p:cNvSpPr txBox="1"/>
          <p:nvPr/>
        </p:nvSpPr>
        <p:spPr>
          <a:xfrm>
            <a:off x="4206240" y="1463040"/>
            <a:ext cx="3474720" cy="4389120"/>
          </a:xfrm>
          <a:prstGeom prst="rect">
            <a:avLst/>
          </a:prstGeom>
          <a:noFill/>
        </p:spPr>
        <p:txBody>
          <a:bodyPr wrap="square">
            <a:spAutoFit/>
          </a:bodyPr>
          <a:lstStyle/>
          <a:p>
            <a:pPr spc="100"/>
            <a:r>
              <a:rPr sz="1300">
                <a:solidFill>
                  <a:srgbClr val="000000"/>
                </a:solidFill>
              </a:rPr>
              <a:t>• Lifestyle brand in a commodity category (water)</a:t>
            </a:r>
          </a:p>
          <a:p>
            <a:pPr spc="100"/>
            <a:r>
              <a:rPr sz="1300">
                <a:solidFill>
                  <a:srgbClr val="000000"/>
                </a:solidFill>
              </a:rPr>
              <a:t>• Artist collabs — every drop is content</a:t>
            </a:r>
          </a:p>
          <a:p>
            <a:pPr spc="100"/>
            <a:r>
              <a:rPr sz="1300">
                <a:solidFill>
                  <a:srgbClr val="000000"/>
                </a:solidFill>
              </a:rPr>
              <a:t>• Limited editions create FOMO + earned media</a:t>
            </a:r>
          </a:p>
          <a:p>
            <a:pPr spc="100"/>
            <a:r>
              <a:rPr sz="1300">
                <a:solidFill>
                  <a:srgbClr val="000000"/>
                </a:solidFill>
              </a:rPr>
              <a:t>• The can IS the ad</a:t>
            </a:r>
          </a:p>
          <a:p>
            <a:pPr spc="100"/>
            <a:r>
              <a:rPr sz="1300">
                <a:solidFill>
                  <a:srgbClr val="000000"/>
                </a:solidFill>
              </a:rPr>
              <a:t>• </a:t>
            </a:r>
          </a:p>
          <a:p>
            <a:pPr spc="100"/>
            <a:r>
              <a:rPr sz="1300">
                <a:solidFill>
                  <a:srgbClr val="000000"/>
                </a:solidFill>
              </a:rPr>
              <a:t>• → FRE LABS LESSON: Packaging IS the media spend. Collab runs and versioned cans replace ad budgets.</a:t>
            </a:r>
          </a:p>
        </p:txBody>
      </p:sp>
      <p:sp>
        <p:nvSpPr>
          <p:cNvPr id="7" name="TextBox 6"/>
          <p:cNvSpPr txBox="1"/>
          <p:nvPr/>
        </p:nvSpPr>
        <p:spPr>
          <a:xfrm>
            <a:off x="7955279" y="1005840"/>
            <a:ext cx="3474720" cy="365760"/>
          </a:xfrm>
          <a:prstGeom prst="rect">
            <a:avLst/>
          </a:prstGeom>
          <a:noFill/>
        </p:spPr>
        <p:txBody>
          <a:bodyPr wrap="square">
            <a:spAutoFit/>
          </a:bodyPr>
          <a:lstStyle/>
          <a:p>
            <a:pPr algn="l"/>
            <a:r>
              <a:rPr b="1" sz="1400">
                <a:solidFill>
                  <a:srgbClr val="00B0F0"/>
                </a:solidFill>
              </a:rPr>
              <a:t>Red Bull Editions — Business Model</a:t>
            </a:r>
          </a:p>
        </p:txBody>
      </p:sp>
      <p:sp>
        <p:nvSpPr>
          <p:cNvPr id="8" name="TextBox 7"/>
          <p:cNvSpPr txBox="1"/>
          <p:nvPr/>
        </p:nvSpPr>
        <p:spPr>
          <a:xfrm>
            <a:off x="7955279" y="1463040"/>
            <a:ext cx="3474720" cy="4389120"/>
          </a:xfrm>
          <a:prstGeom prst="rect">
            <a:avLst/>
          </a:prstGeom>
          <a:noFill/>
        </p:spPr>
        <p:txBody>
          <a:bodyPr wrap="square">
            <a:spAutoFit/>
          </a:bodyPr>
          <a:lstStyle/>
          <a:p>
            <a:pPr spc="100"/>
            <a:r>
              <a:rPr sz="1300">
                <a:solidFill>
                  <a:srgbClr val="000000"/>
                </a:solidFill>
              </a:rPr>
              <a:t>• Sub-brand attracts non-Red Bull consumers</a:t>
            </a:r>
          </a:p>
          <a:p>
            <a:pPr spc="100"/>
            <a:r>
              <a:rPr sz="1300">
                <a:solidFill>
                  <a:srgbClr val="000000"/>
                </a:solidFill>
              </a:rPr>
              <a:t>• Doesn't cannibalize — fishes different ponds</a:t>
            </a:r>
          </a:p>
          <a:p>
            <a:pPr spc="100"/>
            <a:r>
              <a:rPr sz="1300">
                <a:solidFill>
                  <a:srgbClr val="000000"/>
                </a:solidFill>
              </a:rPr>
              <a:t>• Graduates new users to core SKU</a:t>
            </a:r>
          </a:p>
          <a:p>
            <a:pPr spc="100"/>
            <a:r>
              <a:rPr sz="1300">
                <a:solidFill>
                  <a:srgbClr val="000000"/>
                </a:solidFill>
              </a:rPr>
              <a:t>• Absorbs experimentation risk</a:t>
            </a:r>
          </a:p>
          <a:p>
            <a:pPr spc="100"/>
            <a:r>
              <a:rPr sz="1300">
                <a:solidFill>
                  <a:srgbClr val="000000"/>
                </a:solidFill>
              </a:rPr>
              <a:t>• </a:t>
            </a:r>
          </a:p>
          <a:p>
            <a:pPr spc="100"/>
            <a:r>
              <a:rPr sz="1300">
                <a:solidFill>
                  <a:srgbClr val="000000"/>
                </a:solidFill>
              </a:rPr>
              <a:t>• → FRE LABS LESSON: Sub-brand as acquisition funnel. LABS catches new fish; Core FRE keeps them.</a:t>
            </a:r>
          </a:p>
        </p:txBody>
      </p:sp>
      <p:sp>
        <p:nvSpPr>
          <p:cNvPr id="9" name="TextBox 8"/>
          <p:cNvSpPr txBox="1"/>
          <p:nvPr/>
        </p:nvSpPr>
        <p:spPr>
          <a:xfrm>
            <a:off x="457200" y="6217920"/>
            <a:ext cx="10972800" cy="320040"/>
          </a:xfrm>
          <a:prstGeom prst="rect">
            <a:avLst/>
          </a:prstGeom>
          <a:noFill/>
        </p:spPr>
        <p:txBody>
          <a:bodyPr wrap="square">
            <a:spAutoFit/>
          </a:bodyPr>
          <a:lstStyle/>
          <a:p>
            <a:pPr algn="l"/>
            <a:r>
              <a:rPr b="0" sz="900">
                <a:solidFill>
                  <a:srgbClr val="C0C0C0"/>
                </a:solidFill>
              </a:rPr>
              <a:t>Sources: Jones Soda investor filings; Liquid Death (Crunchbase, $1.4B valuation); Red Bull Editions case study (Euromonitor).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00000"/>
                </a:solidFill>
              </a:rPr>
              <a:t>WHAT'S REAL TODAY — NICOTINE PARTNERSHIPS</a:t>
            </a:r>
          </a:p>
        </p:txBody>
      </p:sp>
      <p:sp>
        <p:nvSpPr>
          <p:cNvPr id="3" name="TextBox 2"/>
          <p:cNvSpPr txBox="1"/>
          <p:nvPr/>
        </p:nvSpPr>
        <p:spPr>
          <a:xfrm>
            <a:off x="457200" y="1005840"/>
            <a:ext cx="5303520" cy="365760"/>
          </a:xfrm>
          <a:prstGeom prst="rect">
            <a:avLst/>
          </a:prstGeom>
          <a:noFill/>
        </p:spPr>
        <p:txBody>
          <a:bodyPr wrap="square">
            <a:spAutoFit/>
          </a:bodyPr>
          <a:lstStyle/>
          <a:p>
            <a:pPr algn="l"/>
            <a:r>
              <a:rPr b="1" sz="1500">
                <a:solidFill>
                  <a:srgbClr val="00B0F0"/>
                </a:solidFill>
              </a:rPr>
              <a:t>Lucy — Locked ✅</a:t>
            </a:r>
          </a:p>
        </p:txBody>
      </p:sp>
      <p:sp>
        <p:nvSpPr>
          <p:cNvPr id="4" name="TextBox 3"/>
          <p:cNvSpPr txBox="1"/>
          <p:nvPr/>
        </p:nvSpPr>
        <p:spPr>
          <a:xfrm>
            <a:off x="457200" y="1417320"/>
            <a:ext cx="5303520" cy="18288"/>
          </a:xfrm>
          <a:prstGeom prst="rect">
            <a:avLst/>
          </a:prstGeom>
          <a:noFill/>
        </p:spPr>
        <p:txBody>
          <a:bodyPr wrap="square">
            <a:spAutoFit/>
          </a:bodyPr>
          <a:lstStyle/>
          <a:p>
            <a:pPr algn="l"/>
            <a:r>
              <a:rPr b="0" sz="100">
                <a:solidFill>
                  <a:srgbClr val="00B0F0"/>
                </a:solidFill>
              </a:rPr>
              <a:t/>
            </a:r>
          </a:p>
        </p:txBody>
      </p:sp>
      <p:sp>
        <p:nvSpPr>
          <p:cNvPr id="5" name="TextBox 4"/>
          <p:cNvSpPr txBox="1"/>
          <p:nvPr/>
        </p:nvSpPr>
        <p:spPr>
          <a:xfrm>
            <a:off x="457200" y="1508760"/>
            <a:ext cx="5303520" cy="4389120"/>
          </a:xfrm>
          <a:prstGeom prst="rect">
            <a:avLst/>
          </a:prstGeom>
          <a:noFill/>
        </p:spPr>
        <p:txBody>
          <a:bodyPr wrap="square">
            <a:spAutoFit/>
          </a:bodyPr>
          <a:lstStyle/>
          <a:p>
            <a:pPr spc="100"/>
            <a:r>
              <a:rPr sz="1400">
                <a:solidFill>
                  <a:srgbClr val="000000"/>
                </a:solidFill>
              </a:rPr>
              <a:t>• 3 flavors: Mango, Cinnamon, Espresso</a:t>
            </a:r>
          </a:p>
          <a:p>
            <a:pPr spc="100"/>
            <a:r>
              <a:rPr sz="1400">
                <a:solidFill>
                  <a:srgbClr val="000000"/>
                </a:solidFill>
              </a:rPr>
              <a:t>• 2 strengths: 4mg and 8mg → 6 SKUs</a:t>
            </a:r>
          </a:p>
          <a:p>
            <a:pPr spc="100"/>
            <a:r>
              <a:rPr sz="1400">
                <a:solidFill>
                  <a:srgbClr val="000000"/>
                </a:solidFill>
              </a:rPr>
              <a:t>• 15-count cans, $4.99 MSRP</a:t>
            </a:r>
          </a:p>
          <a:p>
            <a:pPr spc="100"/>
            <a:r>
              <a:rPr sz="1400">
                <a:solidFill>
                  <a:srgbClr val="000000"/>
                </a:solidFill>
              </a:rPr>
              <a:t>• White-label: manufactured by Lucy, branded as FRE Labs</a:t>
            </a:r>
          </a:p>
          <a:p>
            <a:pPr spc="100"/>
            <a:r>
              <a:rPr sz="1400">
                <a:solidFill>
                  <a:srgbClr val="000000"/>
                </a:solidFill>
              </a:rPr>
              <a:t>• Online-only via frepouch.com</a:t>
            </a:r>
          </a:p>
          <a:p>
            <a:pPr spc="100"/>
            <a:r>
              <a:rPr sz="1400">
                <a:solidFill>
                  <a:srgbClr val="000000"/>
                </a:solidFill>
              </a:rPr>
              <a:t>• Launch: June 1, 2026</a:t>
            </a:r>
          </a:p>
          <a:p>
            <a:pPr spc="100"/>
            <a:r>
              <a:rPr sz="1400">
                <a:solidFill>
                  <a:srgbClr val="000000"/>
                </a:solidFill>
              </a:rPr>
              <a:t>• ⚠ Confirm deal status (closed vs. pending) before presenting</a:t>
            </a:r>
          </a:p>
        </p:txBody>
      </p:sp>
      <p:sp>
        <p:nvSpPr>
          <p:cNvPr id="6" name="TextBox 5"/>
          <p:cNvSpPr txBox="1"/>
          <p:nvPr/>
        </p:nvSpPr>
        <p:spPr>
          <a:xfrm>
            <a:off x="6400800" y="1005840"/>
            <a:ext cx="5303520" cy="365760"/>
          </a:xfrm>
          <a:prstGeom prst="rect">
            <a:avLst/>
          </a:prstGeom>
          <a:noFill/>
        </p:spPr>
        <p:txBody>
          <a:bodyPr wrap="square">
            <a:spAutoFit/>
          </a:bodyPr>
          <a:lstStyle/>
          <a:p>
            <a:pPr algn="l"/>
            <a:r>
              <a:rPr b="1" sz="1500">
                <a:solidFill>
                  <a:srgbClr val="00B0F0"/>
                </a:solidFill>
              </a:rPr>
              <a:t>Juice Head / Streamline — ⚠ RTF/RTR Risk</a:t>
            </a:r>
          </a:p>
        </p:txBody>
      </p:sp>
      <p:sp>
        <p:nvSpPr>
          <p:cNvPr id="7" name="TextBox 6"/>
          <p:cNvSpPr txBox="1"/>
          <p:nvPr/>
        </p:nvSpPr>
        <p:spPr>
          <a:xfrm>
            <a:off x="6400800" y="1417320"/>
            <a:ext cx="5303520" cy="18288"/>
          </a:xfrm>
          <a:prstGeom prst="rect">
            <a:avLst/>
          </a:prstGeom>
          <a:noFill/>
        </p:spPr>
        <p:txBody>
          <a:bodyPr wrap="square">
            <a:spAutoFit/>
          </a:bodyPr>
          <a:lstStyle/>
          <a:p>
            <a:pPr algn="l"/>
            <a:r>
              <a:rPr b="0" sz="100">
                <a:solidFill>
                  <a:srgbClr val="00B0F0"/>
                </a:solidFill>
              </a:rPr>
              <a:t/>
            </a:r>
          </a:p>
        </p:txBody>
      </p:sp>
      <p:sp>
        <p:nvSpPr>
          <p:cNvPr id="8" name="TextBox 7"/>
          <p:cNvSpPr txBox="1"/>
          <p:nvPr/>
        </p:nvSpPr>
        <p:spPr>
          <a:xfrm>
            <a:off x="6400800" y="1508760"/>
            <a:ext cx="5303520" cy="4389120"/>
          </a:xfrm>
          <a:prstGeom prst="rect">
            <a:avLst/>
          </a:prstGeom>
          <a:noFill/>
        </p:spPr>
        <p:txBody>
          <a:bodyPr wrap="square">
            <a:spAutoFit/>
          </a:bodyPr>
          <a:lstStyle/>
          <a:p>
            <a:pPr spc="100"/>
            <a:r>
              <a:rPr sz="1400">
                <a:solidFill>
                  <a:srgbClr val="000000"/>
                </a:solidFill>
              </a:rPr>
              <a:t>• 5 fruit-mint blends × 2 strengths (6mg, 12mg) = 10 SKUs</a:t>
            </a:r>
          </a:p>
          <a:p>
            <a:pPr spc="100"/>
            <a:r>
              <a:rPr sz="1400">
                <a:solidFill>
                  <a:srgbClr val="000000"/>
                </a:solidFill>
              </a:rPr>
              <a:t>• Blueberry Lemon Mint, Mango Strawberry Mint, Peach Pineapple Mint, Raspberry Lemonade Mint, Watermelon Strawberry Mint</a:t>
            </a:r>
          </a:p>
          <a:p>
            <a:pPr spc="100"/>
            <a:r>
              <a:rPr sz="1400">
                <a:solidFill>
                  <a:srgbClr val="000000"/>
                </a:solidFill>
              </a:rPr>
              <a:t>• Streamline = brand owner + PMTA holder; MH Global = mfg (Indonesia)</a:t>
            </a:r>
          </a:p>
          <a:p>
            <a:pPr spc="100"/>
            <a:r>
              <a:rPr sz="1400">
                <a:solidFill>
                  <a:srgbClr val="000000"/>
                </a:solidFill>
              </a:rPr>
              <a:t>• FDA issued Refuse to File/Review letter — significant PMTA deficiencies</a:t>
            </a:r>
          </a:p>
          <a:p>
            <a:pPr spc="100"/>
            <a:r>
              <a:rPr sz="1400">
                <a:solidFill>
                  <a:srgbClr val="000000"/>
                </a:solidFill>
              </a:rPr>
              <a:t>• Why it still matters: flavor profiles and consumer positioning validate the LABS thesis regardless</a:t>
            </a:r>
          </a:p>
          <a:p>
            <a:pPr spc="100"/>
            <a:r>
              <a:rPr sz="1400">
                <a:solidFill>
                  <a:srgbClr val="000000"/>
                </a:solidFill>
              </a:rPr>
              <a:t>• Launch: August 1, 2026 (contingent on PMTA resolution)</a:t>
            </a:r>
          </a:p>
        </p:txBody>
      </p:sp>
      <p:sp>
        <p:nvSpPr>
          <p:cNvPr id="9" name="TextBox 8"/>
          <p:cNvSpPr txBox="1"/>
          <p:nvPr/>
        </p:nvSpPr>
        <p:spPr>
          <a:xfrm>
            <a:off x="457200" y="6217920"/>
            <a:ext cx="10972800" cy="320040"/>
          </a:xfrm>
          <a:prstGeom prst="rect">
            <a:avLst/>
          </a:prstGeom>
          <a:noFill/>
        </p:spPr>
        <p:txBody>
          <a:bodyPr wrap="square">
            <a:spAutoFit/>
          </a:bodyPr>
          <a:lstStyle/>
          <a:p>
            <a:pPr algn="l"/>
            <a:r>
              <a:rPr b="0" sz="900">
                <a:solidFill>
                  <a:srgbClr val="C0C0C0"/>
                </a:solidFill>
              </a:rPr>
              <a:t>Source: Internal deal tracker. White-label terms restrict distribution to own DTC (frepouch.com) — no 3P marketplaces. TPB B2B marketplace (Turning Point Brands TV) may be a possible exception.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00000"/>
                </a:solidFill>
              </a:rPr>
              <a:t>CAFFEINE POUCHES — THE SIZE OF THE PRIZE</a:t>
            </a:r>
          </a:p>
        </p:txBody>
      </p:sp>
      <p:sp>
        <p:nvSpPr>
          <p:cNvPr id="3" name="TextBox 2"/>
          <p:cNvSpPr txBox="1"/>
          <p:nvPr/>
        </p:nvSpPr>
        <p:spPr>
          <a:xfrm>
            <a:off x="457200" y="1005840"/>
            <a:ext cx="5303520" cy="365760"/>
          </a:xfrm>
          <a:prstGeom prst="rect">
            <a:avLst/>
          </a:prstGeom>
          <a:noFill/>
        </p:spPr>
        <p:txBody>
          <a:bodyPr wrap="square">
            <a:spAutoFit/>
          </a:bodyPr>
          <a:lstStyle/>
          <a:p>
            <a:pPr algn="l"/>
            <a:r>
              <a:rPr b="1" sz="1500">
                <a:solidFill>
                  <a:srgbClr val="00B0F0"/>
                </a:solidFill>
              </a:rPr>
              <a:t>Market Opportunity</a:t>
            </a:r>
          </a:p>
        </p:txBody>
      </p:sp>
      <p:sp>
        <p:nvSpPr>
          <p:cNvPr id="4" name="TextBox 3"/>
          <p:cNvSpPr txBox="1"/>
          <p:nvPr/>
        </p:nvSpPr>
        <p:spPr>
          <a:xfrm>
            <a:off x="457200" y="1417320"/>
            <a:ext cx="5303520" cy="18288"/>
          </a:xfrm>
          <a:prstGeom prst="rect">
            <a:avLst/>
          </a:prstGeom>
          <a:noFill/>
        </p:spPr>
        <p:txBody>
          <a:bodyPr wrap="square">
            <a:spAutoFit/>
          </a:bodyPr>
          <a:lstStyle/>
          <a:p>
            <a:pPr algn="l"/>
            <a:r>
              <a:rPr b="0" sz="100">
                <a:solidFill>
                  <a:srgbClr val="00B0F0"/>
                </a:solidFill>
              </a:rPr>
              <a:t/>
            </a:r>
          </a:p>
        </p:txBody>
      </p:sp>
      <p:sp>
        <p:nvSpPr>
          <p:cNvPr id="5" name="TextBox 4"/>
          <p:cNvSpPr txBox="1"/>
          <p:nvPr/>
        </p:nvSpPr>
        <p:spPr>
          <a:xfrm>
            <a:off x="457200" y="1508760"/>
            <a:ext cx="5303520" cy="4389120"/>
          </a:xfrm>
          <a:prstGeom prst="rect">
            <a:avLst/>
          </a:prstGeom>
          <a:noFill/>
        </p:spPr>
        <p:txBody>
          <a:bodyPr wrap="square">
            <a:spAutoFit/>
          </a:bodyPr>
          <a:lstStyle/>
          <a:p>
            <a:pPr spc="100"/>
            <a:r>
              <a:rPr sz="1400">
                <a:solidFill>
                  <a:srgbClr val="000000"/>
                </a:solidFill>
              </a:rPr>
              <a:t>• US caffeine industry: ~$120B (energy drinks, coffee, supplements)</a:t>
            </a:r>
          </a:p>
          <a:p>
            <a:pPr spc="100"/>
            <a:r>
              <a:rPr sz="1400">
                <a:solidFill>
                  <a:srgbClr val="000000"/>
                </a:solidFill>
              </a:rPr>
              <a:t>• Encapsulated caffeine market: $441M (2025) → $757M by 2032 — 8% CAGR</a:t>
            </a:r>
          </a:p>
          <a:p>
            <a:pPr spc="100"/>
            <a:r>
              <a:rPr sz="1400">
                <a:solidFill>
                  <a:srgbClr val="000000"/>
                </a:solidFill>
              </a:rPr>
              <a:t>• Caffeine pouch retail category (xAOC): ~$5.1M annualized — nascent and fragmented</a:t>
            </a:r>
          </a:p>
          <a:p>
            <a:pPr spc="100"/>
            <a:r>
              <a:rPr sz="1400">
                <a:solidFill>
                  <a:srgbClr val="000000"/>
                </a:solidFill>
              </a:rPr>
              <a:t>• True market likely 2–3× (Amazon DTC not in Nielsen scan data)</a:t>
            </a:r>
          </a:p>
          <a:p>
            <a:pPr spc="100"/>
            <a:r>
              <a:rPr sz="1400">
                <a:solidFill>
                  <a:srgbClr val="000000"/>
                </a:solidFill>
              </a:rPr>
              <a:t>• Nobody with real retail distribution muscle has entered this space</a:t>
            </a:r>
          </a:p>
          <a:p>
            <a:pPr spc="100"/>
            <a:r>
              <a:rPr sz="1400">
                <a:solidFill>
                  <a:srgbClr val="000000"/>
                </a:solidFill>
              </a:rPr>
              <a:t>• TPB's existing 52K+ retail footprint is the moat</a:t>
            </a:r>
          </a:p>
          <a:p>
            <a:pPr spc="100"/>
            <a:r>
              <a:rPr sz="1400">
                <a:solidFill>
                  <a:srgbClr val="000000"/>
                </a:solidFill>
              </a:rPr>
              <a:t>• </a:t>
            </a:r>
          </a:p>
          <a:p>
            <a:pPr spc="100"/>
            <a:r>
              <a:rPr sz="1400">
                <a:solidFill>
                  <a:srgbClr val="000000"/>
                </a:solidFill>
              </a:rPr>
              <a:t>• This is not caffeine OR nicotine — it's caffeine AND nicotine. Cross-pollination: single consumer touchpoint offering both in high quality.</a:t>
            </a:r>
          </a:p>
        </p:txBody>
      </p:sp>
      <p:sp>
        <p:nvSpPr>
          <p:cNvPr id="6" name="TextBox 5"/>
          <p:cNvSpPr txBox="1"/>
          <p:nvPr/>
        </p:nvSpPr>
        <p:spPr>
          <a:xfrm>
            <a:off x="6400800" y="1005840"/>
            <a:ext cx="5303520" cy="365760"/>
          </a:xfrm>
          <a:prstGeom prst="rect">
            <a:avLst/>
          </a:prstGeom>
          <a:noFill/>
        </p:spPr>
        <p:txBody>
          <a:bodyPr wrap="square">
            <a:spAutoFit/>
          </a:bodyPr>
          <a:lstStyle/>
          <a:p>
            <a:pPr algn="l"/>
            <a:r>
              <a:rPr b="1" sz="1500">
                <a:solidFill>
                  <a:srgbClr val="00B0F0"/>
                </a:solidFill>
              </a:rPr>
              <a:t>Competitive Landscape</a:t>
            </a:r>
          </a:p>
        </p:txBody>
      </p:sp>
      <p:sp>
        <p:nvSpPr>
          <p:cNvPr id="7" name="TextBox 6"/>
          <p:cNvSpPr txBox="1"/>
          <p:nvPr/>
        </p:nvSpPr>
        <p:spPr>
          <a:xfrm>
            <a:off x="6400800" y="1417320"/>
            <a:ext cx="5303520" cy="18288"/>
          </a:xfrm>
          <a:prstGeom prst="rect">
            <a:avLst/>
          </a:prstGeom>
          <a:noFill/>
        </p:spPr>
        <p:txBody>
          <a:bodyPr wrap="square">
            <a:spAutoFit/>
          </a:bodyPr>
          <a:lstStyle/>
          <a:p>
            <a:pPr algn="l"/>
            <a:r>
              <a:rPr b="0" sz="100">
                <a:solidFill>
                  <a:srgbClr val="00B0F0"/>
                </a:solidFill>
              </a:rPr>
              <a:t/>
            </a:r>
          </a:p>
        </p:txBody>
      </p:sp>
      <p:sp>
        <p:nvSpPr>
          <p:cNvPr id="8" name="TextBox 7"/>
          <p:cNvSpPr txBox="1"/>
          <p:nvPr/>
        </p:nvSpPr>
        <p:spPr>
          <a:xfrm>
            <a:off x="6400800" y="1508760"/>
            <a:ext cx="5303520" cy="4389120"/>
          </a:xfrm>
          <a:prstGeom prst="rect">
            <a:avLst/>
          </a:prstGeom>
          <a:noFill/>
        </p:spPr>
        <p:txBody>
          <a:bodyPr wrap="square">
            <a:spAutoFit/>
          </a:bodyPr>
          <a:lstStyle/>
          <a:p>
            <a:pPr spc="100"/>
            <a:r>
              <a:rPr sz="1400">
                <a:solidFill>
                  <a:srgbClr val="000000"/>
                </a:solidFill>
              </a:rPr>
              <a:t>• Grinds — Coffee pouches, Amazon-first. 5,833 stores, $269K/mo (NielsenIQ). Major distribution event Oct 2025 — velocity normalizing</a:t>
            </a:r>
          </a:p>
          <a:p>
            <a:pPr spc="100"/>
            <a:r>
              <a:rPr sz="1400">
                <a:solidFill>
                  <a:srgbClr val="000000"/>
                </a:solidFill>
              </a:rPr>
              <a:t>• TeaZa — Our partner. 428% growth in 14 months. 4,027 stores, $120K/mo and rising. Pricing power: avg unit price ↑13%</a:t>
            </a:r>
          </a:p>
          <a:p>
            <a:pPr spc="100"/>
            <a:r>
              <a:rPr sz="1400">
                <a:solidFill>
                  <a:srgbClr val="000000"/>
                </a:solidFill>
              </a:rPr>
              <a:t>• Wip Energy — 100–200mg caffeine, aggressive DTC. 2M+ cans sold, ~4K retail doors. Positioned as energy drink alternative</a:t>
            </a:r>
          </a:p>
          <a:p>
            <a:pPr spc="100"/>
            <a:r>
              <a:rPr sz="1400">
                <a:solidFill>
                  <a:srgbClr val="000000"/>
                </a:solidFill>
              </a:rPr>
              <a:t>• NZE — Caffeine + nootropic pouches, niche DTC player</a:t>
            </a:r>
          </a:p>
          <a:p>
            <a:pPr spc="100"/>
            <a:r>
              <a:rPr sz="1400">
                <a:solidFill>
                  <a:srgbClr val="000000"/>
                </a:solidFill>
              </a:rPr>
              <a:t>• </a:t>
            </a:r>
          </a:p>
          <a:p>
            <a:pPr spc="100"/>
            <a:r>
              <a:rPr sz="1400">
                <a:solidFill>
                  <a:srgbClr val="000000"/>
                </a:solidFill>
              </a:rPr>
              <a:t>• Key insight: The category is real, growing fast, and wide open for a well-resourced entrant.</a:t>
            </a:r>
          </a:p>
        </p:txBody>
      </p:sp>
      <p:sp>
        <p:nvSpPr>
          <p:cNvPr id="9" name="TextBox 8"/>
          <p:cNvSpPr txBox="1"/>
          <p:nvPr/>
        </p:nvSpPr>
        <p:spPr>
          <a:xfrm>
            <a:off x="457200" y="6217920"/>
            <a:ext cx="10972800" cy="320040"/>
          </a:xfrm>
          <a:prstGeom prst="rect">
            <a:avLst/>
          </a:prstGeom>
          <a:noFill/>
        </p:spPr>
        <p:txBody>
          <a:bodyPr wrap="square">
            <a:spAutoFit/>
          </a:bodyPr>
          <a:lstStyle/>
          <a:p>
            <a:pPr algn="l"/>
            <a:r>
              <a:rPr b="0" sz="900">
                <a:solidFill>
                  <a:srgbClr val="C0C0C0"/>
                </a:solidFill>
              </a:rPr>
              <a:t>Sources: Reanin Encapsulated Caffeine Market Report (2025); NielsenIQ xAOC Jan 2025–Feb 2026; Wip press release (Feb 2026); 360iResearch Caffeine Pouches forecast.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00000"/>
                </a:solidFill>
              </a:rPr>
              <a:t>EVEN IF WE BREAK EVEN — HERE'S WHAT IT DOES FOR US</a:t>
            </a:r>
          </a:p>
        </p:txBody>
      </p:sp>
      <p:sp>
        <p:nvSpPr>
          <p:cNvPr id="3" name="TextBox 2"/>
          <p:cNvSpPr txBox="1"/>
          <p:nvPr/>
        </p:nvSpPr>
        <p:spPr>
          <a:xfrm>
            <a:off x="457200" y="1005840"/>
            <a:ext cx="5303520" cy="365760"/>
          </a:xfrm>
          <a:prstGeom prst="rect">
            <a:avLst/>
          </a:prstGeom>
          <a:noFill/>
        </p:spPr>
        <p:txBody>
          <a:bodyPr wrap="square">
            <a:spAutoFit/>
          </a:bodyPr>
          <a:lstStyle/>
          <a:p>
            <a:pPr algn="l"/>
            <a:r>
              <a:rPr b="1" sz="1500">
                <a:solidFill>
                  <a:srgbClr val="00B0F0"/>
                </a:solidFill>
              </a:rPr>
              <a:t>Consumer Engagement Activations</a:t>
            </a:r>
          </a:p>
        </p:txBody>
      </p:sp>
      <p:sp>
        <p:nvSpPr>
          <p:cNvPr id="4" name="TextBox 3"/>
          <p:cNvSpPr txBox="1"/>
          <p:nvPr/>
        </p:nvSpPr>
        <p:spPr>
          <a:xfrm>
            <a:off x="457200" y="1417320"/>
            <a:ext cx="5303520" cy="18288"/>
          </a:xfrm>
          <a:prstGeom prst="rect">
            <a:avLst/>
          </a:prstGeom>
          <a:noFill/>
        </p:spPr>
        <p:txBody>
          <a:bodyPr wrap="square">
            <a:spAutoFit/>
          </a:bodyPr>
          <a:lstStyle/>
          <a:p>
            <a:pPr algn="l"/>
            <a:r>
              <a:rPr b="0" sz="100">
                <a:solidFill>
                  <a:srgbClr val="00B0F0"/>
                </a:solidFill>
              </a:rPr>
              <a:t/>
            </a:r>
          </a:p>
        </p:txBody>
      </p:sp>
      <p:sp>
        <p:nvSpPr>
          <p:cNvPr id="5" name="TextBox 4"/>
          <p:cNvSpPr txBox="1"/>
          <p:nvPr/>
        </p:nvSpPr>
        <p:spPr>
          <a:xfrm>
            <a:off x="457200" y="1508760"/>
            <a:ext cx="5303520" cy="4389120"/>
          </a:xfrm>
          <a:prstGeom prst="rect">
            <a:avLst/>
          </a:prstGeom>
          <a:noFill/>
        </p:spPr>
        <p:txBody>
          <a:bodyPr wrap="square">
            <a:spAutoFit/>
          </a:bodyPr>
          <a:lstStyle/>
          <a:p>
            <a:pPr spc="100"/>
            <a:r>
              <a:rPr sz="1400">
                <a:solidFill>
                  <a:srgbClr val="000000"/>
                </a:solidFill>
              </a:rPr>
              <a:t>• Flavor voting — zero-cost market research that markets itself. Community decides what v-next tastes like</a:t>
            </a:r>
          </a:p>
          <a:p>
            <a:pPr spc="100"/>
            <a:r>
              <a:rPr sz="1400">
                <a:solidFill>
                  <a:srgbClr val="000000"/>
                </a:solidFill>
              </a:rPr>
              <a:t>• Limited-edition collab cans — UFC fighters, NASCAR drivers, artists. 500–1,000 unit runs. Each collab = content + collectible</a:t>
            </a:r>
          </a:p>
          <a:p>
            <a:pPr spc="100"/>
            <a:r>
              <a:rPr sz="1400">
                <a:solidFill>
                  <a:srgbClr val="000000"/>
                </a:solidFill>
              </a:rPr>
              <a:t>• Mystery can drops — surprise mechanics drive repeat purchase + social sharing</a:t>
            </a:r>
          </a:p>
          <a:p>
            <a:pPr spc="100"/>
            <a:r>
              <a:rPr sz="1400">
                <a:solidFill>
                  <a:srgbClr val="000000"/>
                </a:solidFill>
              </a:rPr>
              <a:t>• QR-first can design — every can is a recruiting tool. Scan → landing page → data capture → funnel entry</a:t>
            </a:r>
          </a:p>
          <a:p>
            <a:pPr spc="100"/>
            <a:r>
              <a:rPr sz="1400">
                <a:solidFill>
                  <a:srgbClr val="000000"/>
                </a:solidFill>
              </a:rPr>
              <a:t>• Early access tiers — FRE Labs members get new versions before general release. Insider culture</a:t>
            </a:r>
          </a:p>
          <a:p>
            <a:pPr spc="100"/>
            <a:r>
              <a:rPr sz="1400">
                <a:solidFill>
                  <a:srgbClr val="000000"/>
                </a:solidFill>
              </a:rPr>
              <a:t>• FRE Rewards integration — LABS activity (scans, votes, purchases) earns status in broader FRE ecosystem</a:t>
            </a:r>
          </a:p>
        </p:txBody>
      </p:sp>
      <p:sp>
        <p:nvSpPr>
          <p:cNvPr id="6" name="TextBox 5"/>
          <p:cNvSpPr txBox="1"/>
          <p:nvPr/>
        </p:nvSpPr>
        <p:spPr>
          <a:xfrm>
            <a:off x="6400800" y="1005840"/>
            <a:ext cx="5303520" cy="365760"/>
          </a:xfrm>
          <a:prstGeom prst="rect">
            <a:avLst/>
          </a:prstGeom>
          <a:noFill/>
        </p:spPr>
        <p:txBody>
          <a:bodyPr wrap="square">
            <a:spAutoFit/>
          </a:bodyPr>
          <a:lstStyle/>
          <a:p>
            <a:pPr algn="l"/>
            <a:r>
              <a:rPr b="1" sz="1500">
                <a:solidFill>
                  <a:srgbClr val="00B0F0"/>
                </a:solidFill>
              </a:rPr>
              <a:t>Ancillary Benefits to TPB</a:t>
            </a:r>
          </a:p>
        </p:txBody>
      </p:sp>
      <p:sp>
        <p:nvSpPr>
          <p:cNvPr id="7" name="TextBox 6"/>
          <p:cNvSpPr txBox="1"/>
          <p:nvPr/>
        </p:nvSpPr>
        <p:spPr>
          <a:xfrm>
            <a:off x="6400800" y="1417320"/>
            <a:ext cx="5303520" cy="18288"/>
          </a:xfrm>
          <a:prstGeom prst="rect">
            <a:avLst/>
          </a:prstGeom>
          <a:noFill/>
        </p:spPr>
        <p:txBody>
          <a:bodyPr wrap="square">
            <a:spAutoFit/>
          </a:bodyPr>
          <a:lstStyle/>
          <a:p>
            <a:pPr algn="l"/>
            <a:r>
              <a:rPr b="0" sz="100">
                <a:solidFill>
                  <a:srgbClr val="00B0F0"/>
                </a:solidFill>
              </a:rPr>
              <a:t/>
            </a:r>
          </a:p>
        </p:txBody>
      </p:sp>
      <p:sp>
        <p:nvSpPr>
          <p:cNvPr id="8" name="TextBox 7"/>
          <p:cNvSpPr txBox="1"/>
          <p:nvPr/>
        </p:nvSpPr>
        <p:spPr>
          <a:xfrm>
            <a:off x="6400800" y="1508760"/>
            <a:ext cx="5303520" cy="4389120"/>
          </a:xfrm>
          <a:prstGeom prst="rect">
            <a:avLst/>
          </a:prstGeom>
          <a:noFill/>
        </p:spPr>
        <p:txBody>
          <a:bodyPr wrap="square">
            <a:spAutoFit/>
          </a:bodyPr>
          <a:lstStyle/>
          <a:p>
            <a:pPr spc="100"/>
            <a:r>
              <a:rPr sz="1400">
                <a:solidFill>
                  <a:srgbClr val="000000"/>
                </a:solidFill>
              </a:rPr>
              <a:t>• First-party data engine — QR scans and DTC purchases build a consumer database FRE doesn't have today</a:t>
            </a:r>
          </a:p>
          <a:p>
            <a:pPr spc="100"/>
            <a:r>
              <a:rPr sz="1400">
                <a:solidFill>
                  <a:srgbClr val="000000"/>
                </a:solidFill>
              </a:rPr>
              <a:t>• Always-on content calendar — versioning + collabs mean every drop is a campaign, every collab is earned media</a:t>
            </a:r>
          </a:p>
          <a:p>
            <a:pPr spc="100"/>
            <a:r>
              <a:rPr sz="1400">
                <a:solidFill>
                  <a:srgbClr val="000000"/>
                </a:solidFill>
              </a:rPr>
              <a:t>• Brand modernization — LABS signals innovation and design sophistication to trade partners and retail buyers</a:t>
            </a:r>
          </a:p>
          <a:p>
            <a:pPr spc="100"/>
            <a:r>
              <a:rPr sz="1400">
                <a:solidFill>
                  <a:srgbClr val="000000"/>
                </a:solidFill>
              </a:rPr>
              <a:t>• Consumer acquisition funnel — LABS consumers graduate to Core FRE. Even &lt;50% conversion is a serious growth engine</a:t>
            </a:r>
          </a:p>
          <a:p>
            <a:pPr spc="100"/>
            <a:r>
              <a:rPr sz="1400">
                <a:solidFill>
                  <a:srgbClr val="000000"/>
                </a:solidFill>
              </a:rPr>
              <a:t>• Marketing subsidy — if the product breaks even, the engagement and data are free</a:t>
            </a:r>
          </a:p>
          <a:p>
            <a:pPr spc="100"/>
            <a:r>
              <a:rPr sz="1400">
                <a:solidFill>
                  <a:srgbClr val="000000"/>
                </a:solidFill>
              </a:rPr>
              <a:t>• Competitive moat — first mover in flavored + caffeine pouch ecosystem backed by real retail infrastructure</a:t>
            </a:r>
          </a:p>
        </p:txBody>
      </p:sp>
      <p:sp>
        <p:nvSpPr>
          <p:cNvPr id="9" name="TextBox 8"/>
          <p:cNvSpPr txBox="1"/>
          <p:nvPr/>
        </p:nvSpPr>
        <p:spPr>
          <a:xfrm>
            <a:off x="457200" y="6217920"/>
            <a:ext cx="10972800" cy="320040"/>
          </a:xfrm>
          <a:prstGeom prst="rect">
            <a:avLst/>
          </a:prstGeom>
          <a:noFill/>
        </p:spPr>
        <p:txBody>
          <a:bodyPr wrap="square">
            <a:spAutoFit/>
          </a:bodyPr>
          <a:lstStyle/>
          <a:p>
            <a:pPr algn="l"/>
            <a:r>
              <a:rPr b="0" sz="900">
                <a:solidFill>
                  <a:srgbClr val="C0C0C0"/>
                </a:solidFill>
              </a:rPr>
              <a:t>Source: Internal FRE Labs strategy. Engagement mechanics modeled on Jones Soda (co-creation), Liquid Death (design-as-media), Red Bull Editions (sub-brand funnel).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00000"/>
                </a:solidFill>
              </a:rPr>
              <a:t>Y1 FINANCIAL SCENARIO — PHASED LAUNCH</a:t>
            </a:r>
          </a:p>
        </p:txBody>
      </p:sp>
      <p:sp>
        <p:nvSpPr>
          <p:cNvPr id="3" name="TextBox 2"/>
          <p:cNvSpPr txBox="1"/>
          <p:nvPr/>
        </p:nvSpPr>
        <p:spPr>
          <a:xfrm>
            <a:off x="457200" y="1051560"/>
            <a:ext cx="11247120" cy="5029200"/>
          </a:xfrm>
          <a:prstGeom prst="rect">
            <a:avLst/>
          </a:prstGeom>
          <a:noFill/>
        </p:spPr>
        <p:txBody>
          <a:bodyPr wrap="square">
            <a:spAutoFit/>
          </a:bodyPr>
          <a:lstStyle/>
          <a:p>
            <a:pPr spc="100"/>
            <a:r>
              <a:rPr sz="1600">
                <a:solidFill>
                  <a:srgbClr val="000000"/>
                </a:solidFill>
              </a:rPr>
              <a:t>• Y1 = Jun 2026 – May 2027  |  DTC-only (frepouch.com)  |  $4.99/can  |  2-month ramp on all streams</a:t>
            </a:r>
          </a:p>
          <a:p>
            <a:pPr spc="100"/>
            <a:r>
              <a:rPr sz="1600">
                <a:solidFill>
                  <a:srgbClr val="000000"/>
                </a:solidFill>
              </a:rPr>
              <a:t>• </a:t>
            </a:r>
          </a:p>
          <a:p>
            <a:pPr spc="100"/>
            <a:r>
              <a:rPr sz="1600">
                <a:solidFill>
                  <a:srgbClr val="000000"/>
                </a:solidFill>
              </a:rPr>
              <a:t>• LUCY (Nicotine) — 12 months from Jun 2026</a:t>
            </a:r>
          </a:p>
          <a:p>
            <a:pPr spc="100"/>
            <a:r>
              <a:rPr sz="1600">
                <a:solidFill>
                  <a:srgbClr val="000000"/>
                </a:solidFill>
              </a:rPr>
              <a:t>•    Bear: $844K  |  Base: $1.52M  |  Bull: $2.53M    (Indexed to Watermelon launch analog: $71–87K/mo single flavor on established page)</a:t>
            </a:r>
          </a:p>
          <a:p>
            <a:pPr spc="100"/>
            <a:r>
              <a:rPr sz="1600">
                <a:solidFill>
                  <a:srgbClr val="000000"/>
                </a:solidFill>
              </a:rPr>
              <a:t>• </a:t>
            </a:r>
          </a:p>
          <a:p>
            <a:pPr spc="100"/>
            <a:r>
              <a:rPr sz="1600">
                <a:solidFill>
                  <a:srgbClr val="000000"/>
                </a:solidFill>
              </a:rPr>
              <a:t>• JUICE HEAD (Nicotine) — 10 months from Aug 2026  ⚠ Contingent on PMTA resolution</a:t>
            </a:r>
          </a:p>
          <a:p>
            <a:pPr spc="100"/>
            <a:r>
              <a:rPr sz="1600">
                <a:solidFill>
                  <a:srgbClr val="000000"/>
                </a:solidFill>
              </a:rPr>
              <a:t>•    Bear: $648K  |  Base: $1.49M  |  Bull: $3.01M    (Risk-adjusted: 30%/15%/0% haircut for RTF/RTR by scenario)</a:t>
            </a:r>
          </a:p>
          <a:p>
            <a:pPr spc="100"/>
            <a:r>
              <a:rPr sz="1600">
                <a:solidFill>
                  <a:srgbClr val="000000"/>
                </a:solidFill>
              </a:rPr>
              <a:t>• </a:t>
            </a:r>
          </a:p>
          <a:p>
            <a:pPr spc="100"/>
            <a:r>
              <a:rPr sz="1600">
                <a:solidFill>
                  <a:srgbClr val="000000"/>
                </a:solidFill>
              </a:rPr>
              <a:t>• CAFFEINE (DENSSI + TeaZa) — 10 months from Aug 2026</a:t>
            </a:r>
          </a:p>
          <a:p>
            <a:pPr spc="100"/>
            <a:r>
              <a:rPr sz="1600">
                <a:solidFill>
                  <a:srgbClr val="000000"/>
                </a:solidFill>
              </a:rPr>
              <a:t>•    Bear: $231K  |  Base: $601K  |  Bull: $1.06M     (Nielsen: TeaZa $120K/mo retail at 4K stores; DTC is different consumer)</a:t>
            </a:r>
          </a:p>
          <a:p>
            <a:pPr spc="100"/>
            <a:r>
              <a:rPr sz="1600">
                <a:solidFill>
                  <a:srgbClr val="000000"/>
                </a:solidFill>
              </a:rPr>
              <a:t>• </a:t>
            </a:r>
          </a:p>
          <a:p>
            <a:pPr spc="100"/>
            <a:r>
              <a:rPr sz="1600">
                <a:solidFill>
                  <a:srgbClr val="000000"/>
                </a:solidFill>
              </a:rPr>
              <a:t>• COMBINED Y1 TOTAL:</a:t>
            </a:r>
          </a:p>
          <a:p>
            <a:pPr spc="100"/>
            <a:r>
              <a:rPr sz="1600">
                <a:solidFill>
                  <a:srgbClr val="000000"/>
                </a:solidFill>
              </a:rPr>
              <a:t>•    Bear: $1.72M (17.6% of ~$10M DTC base)  |  Base: $3.61M (36.9%)  |  Bull: $6.60M (67.4%)</a:t>
            </a:r>
          </a:p>
          <a:p>
            <a:pPr spc="100"/>
            <a:r>
              <a:rPr sz="1600">
                <a:solidFill>
                  <a:srgbClr val="000000"/>
                </a:solidFill>
              </a:rPr>
              <a:t>• </a:t>
            </a:r>
          </a:p>
          <a:p>
            <a:pPr spc="100"/>
            <a:r>
              <a:rPr sz="1600">
                <a:solidFill>
                  <a:srgbClr val="000000"/>
                </a:solidFill>
              </a:rPr>
              <a:t>• SENSITIVITY — If Juice Head deal dies: Bear $1.08M  |  Base $2.12M  |  Bull $3.60M</a:t>
            </a:r>
          </a:p>
        </p:txBody>
      </p:sp>
      <p:sp>
        <p:nvSpPr>
          <p:cNvPr id="4" name="TextBox 3"/>
          <p:cNvSpPr txBox="1"/>
          <p:nvPr/>
        </p:nvSpPr>
        <p:spPr>
          <a:xfrm>
            <a:off x="457200" y="6217920"/>
            <a:ext cx="10972800" cy="320040"/>
          </a:xfrm>
          <a:prstGeom prst="rect">
            <a:avLst/>
          </a:prstGeom>
          <a:noFill/>
        </p:spPr>
        <p:txBody>
          <a:bodyPr wrap="square">
            <a:spAutoFit/>
          </a:bodyPr>
          <a:lstStyle/>
          <a:p>
            <a:pPr algn="l"/>
            <a:r>
              <a:rPr b="0" sz="900">
                <a:solidFill>
                  <a:srgbClr val="C0C0C0"/>
                </a:solidFill>
              </a:rPr>
              <a:t>Sources: frepouch.com actuals (Mar 25–Mar 26, ~$9.8M DTC base); FRE Watermelon launch analog (Sep 2025, $85K first full month); NielsenIQ xAOC. No marketing spend or COGS included — revenue-only model.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32720" cy="1097280"/>
          </a:xfrm>
          <a:prstGeom prst="rect">
            <a:avLst/>
          </a:prstGeom>
          <a:noFill/>
        </p:spPr>
        <p:txBody>
          <a:bodyPr wrap="square">
            <a:spAutoFit/>
          </a:bodyPr>
          <a:lstStyle/>
          <a:p>
            <a:pPr algn="ctr"/>
            <a:r>
              <a:rPr b="1" sz="5200">
                <a:solidFill>
                  <a:srgbClr val="FFFFFF"/>
                </a:solidFill>
              </a:rPr>
              <a:t>BACK TO YOU</a:t>
            </a:r>
          </a:p>
        </p:txBody>
      </p:sp>
      <p:sp>
        <p:nvSpPr>
          <p:cNvPr id="3" name="TextBox 2"/>
          <p:cNvSpPr txBox="1"/>
          <p:nvPr/>
        </p:nvSpPr>
        <p:spPr>
          <a:xfrm>
            <a:off x="914400" y="3749039"/>
            <a:ext cx="10332720" cy="457200"/>
          </a:xfrm>
          <a:prstGeom prst="rect">
            <a:avLst/>
          </a:prstGeom>
          <a:noFill/>
        </p:spPr>
        <p:txBody>
          <a:bodyPr wrap="square">
            <a:spAutoFit/>
          </a:bodyPr>
          <a:lstStyle/>
          <a:p>
            <a:pPr algn="ctr"/>
            <a:r>
              <a:rPr b="0" sz="2000">
                <a:solidFill>
                  <a:srgbClr val="FFFFFF"/>
                </a:solidFill>
              </a:rPr>
              <a:t>THESE ARE THE DECISIONS WE NEED YOUR INPUT ON.</a:t>
            </a:r>
          </a:p>
        </p:txBody>
      </p:sp>
      <p:sp>
        <p:nvSpPr>
          <p:cNvPr id="4" name="TextBox 3"/>
          <p:cNvSpPr txBox="1"/>
          <p:nvPr/>
        </p:nvSpPr>
        <p:spPr>
          <a:xfrm>
            <a:off x="1371600" y="4389120"/>
            <a:ext cx="9418320" cy="2286000"/>
          </a:xfrm>
          <a:prstGeom prst="rect">
            <a:avLst/>
          </a:prstGeom>
          <a:noFill/>
        </p:spPr>
        <p:txBody>
          <a:bodyPr wrap="square">
            <a:spAutoFit/>
          </a:bodyPr>
          <a:lstStyle/>
          <a:p>
            <a:pPr algn="l"/>
            <a:r>
              <a:rPr b="0" sz="1400">
                <a:solidFill>
                  <a:srgbClr val="FFFFFF"/>
                </a:solidFill>
              </a:rPr>
              <a:t>01 — Caffeine is worth ~$441M today and projected to reach $757M by 2032 (8% CAGR). This isn't caffeine OR nicotine — it's both. Where do you see the cross-pollination? Is being the single touchpoint for both a real advantage?
02 — What metrics beyond revenue should we track to gauge success? Consumer data capture, brand perception lift, trade partner signaling — what are the ancillary wins that matter most to TPB?
03 — What's the right Y1 marketing spend to prove the concept without over-committing?</a:t>
            </a:r>
          </a:p>
        </p:txBody>
      </p:sp>
      <p:sp>
        <p:nvSpPr>
          <p:cNvPr id="5" name="TextBox 4"/>
          <p:cNvSpPr txBox="1"/>
          <p:nvPr/>
        </p:nvSpPr>
        <p:spPr>
          <a:xfrm>
            <a:off x="1371600" y="5943600"/>
            <a:ext cx="9418320" cy="457200"/>
          </a:xfrm>
          <a:prstGeom prst="rect">
            <a:avLst/>
          </a:prstGeom>
          <a:noFill/>
        </p:spPr>
        <p:txBody>
          <a:bodyPr wrap="square">
            <a:spAutoFit/>
          </a:bodyPr>
          <a:lstStyle/>
          <a:p>
            <a:pPr algn="l"/>
            <a:r>
              <a:rPr b="0" sz="1000">
                <a:solidFill>
                  <a:srgbClr val="C0C0C0"/>
                </a:solidFill>
              </a:rPr>
              <a:t>Note: DTC (frepouch.com) is the launch channel per white-label contract terms — not a strategic choice. TPB B2B marketplace may be a possible exception.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32720" cy="1097280"/>
          </a:xfrm>
          <a:prstGeom prst="rect">
            <a:avLst/>
          </a:prstGeom>
          <a:noFill/>
        </p:spPr>
        <p:txBody>
          <a:bodyPr wrap="square">
            <a:spAutoFit/>
          </a:bodyPr>
          <a:lstStyle/>
          <a:p>
            <a:pPr algn="ctr"/>
            <a:r>
              <a:rPr b="1" sz="5200">
                <a:solidFill>
                  <a:srgbClr val="FFFFFF"/>
                </a:solidFill>
              </a:rPr>
              <a:t>APPENDIX</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00000"/>
                </a:solidFill>
              </a:rPr>
              <a:t>APPENDIX: FLAVOR NICOTINE LANDSCAPE</a:t>
            </a:r>
          </a:p>
        </p:txBody>
      </p:sp>
      <p:sp>
        <p:nvSpPr>
          <p:cNvPr id="3" name="TextBox 2"/>
          <p:cNvSpPr txBox="1"/>
          <p:nvPr/>
        </p:nvSpPr>
        <p:spPr>
          <a:xfrm>
            <a:off x="457200" y="1051560"/>
            <a:ext cx="11247120" cy="5029200"/>
          </a:xfrm>
          <a:prstGeom prst="rect">
            <a:avLst/>
          </a:prstGeom>
          <a:noFill/>
        </p:spPr>
        <p:txBody>
          <a:bodyPr wrap="square">
            <a:spAutoFit/>
          </a:bodyPr>
          <a:lstStyle/>
          <a:p>
            <a:pPr spc="100"/>
            <a:r>
              <a:rPr sz="1600">
                <a:solidFill>
                  <a:srgbClr val="000000"/>
                </a:solidFill>
              </a:rPr>
              <a:t>• ZYN — 10+ flavors (Mint, Wintergreen, Coffee, Citrus, Cinnamon, Menthol, Peppermint, Spearmint)  |  3mg, 6mg</a:t>
            </a:r>
          </a:p>
          <a:p>
            <a:pPr spc="100"/>
            <a:r>
              <a:rPr sz="1600">
                <a:solidFill>
                  <a:srgbClr val="000000"/>
                </a:solidFill>
              </a:rPr>
              <a:t>• ON! — 7 flavors (Wintergreen, Mint, Coffee, Cinnamon, Citrus, Berry)  |  2mg, 4mg, 8mg</a:t>
            </a:r>
          </a:p>
          <a:p>
            <a:pPr spc="100"/>
            <a:r>
              <a:rPr sz="1600">
                <a:solidFill>
                  <a:srgbClr val="000000"/>
                </a:solidFill>
              </a:rPr>
              <a:t>• Juice Head — 5 flavors (Blueberry Lemon, Mango Strawberry, Peach Pineapple, Raspberry Lemonade, Watermelon Strawberry)  |  6mg, 12mg</a:t>
            </a:r>
          </a:p>
          <a:p>
            <a:pPr spc="100"/>
            <a:r>
              <a:rPr sz="1600">
                <a:solidFill>
                  <a:srgbClr val="000000"/>
                </a:solidFill>
              </a:rPr>
              <a:t>• Core FRE — 6 SKUs across 4 profiles (Mint, Wintergreen, Sweet/Original, Lush/Watermelon)  |  3–15mg (5 tiers)</a:t>
            </a:r>
          </a:p>
          <a:p>
            <a:pPr spc="100"/>
            <a:r>
              <a:rPr sz="1600">
                <a:solidFill>
                  <a:srgbClr val="000000"/>
                </a:solidFill>
              </a:rPr>
              <a:t>• </a:t>
            </a:r>
          </a:p>
          <a:p>
            <a:pPr spc="100"/>
            <a:r>
              <a:rPr sz="1600">
                <a:solidFill>
                  <a:srgbClr val="000000"/>
                </a:solidFill>
              </a:rPr>
              <a:t>• FRE LABS — 8+ flavors spanning dessert, coffee, tropical fruit-mint  |  4–12mg</a:t>
            </a:r>
          </a:p>
          <a:p>
            <a:pPr spc="100"/>
            <a:r>
              <a:rPr sz="1600">
                <a:solidFill>
                  <a:srgbClr val="000000"/>
                </a:solidFill>
              </a:rPr>
              <a:t>• </a:t>
            </a:r>
          </a:p>
          <a:p>
            <a:pPr spc="100"/>
            <a:r>
              <a:rPr sz="1600">
                <a:solidFill>
                  <a:srgbClr val="000000"/>
                </a:solidFill>
              </a:rPr>
              <a:t>• UNDERSERVED TERRITORIES FRE LABS FILLS:</a:t>
            </a:r>
          </a:p>
          <a:p>
            <a:pPr spc="100"/>
            <a:r>
              <a:rPr sz="1600">
                <a:solidFill>
                  <a:srgbClr val="000000"/>
                </a:solidFill>
              </a:rPr>
              <a:t>•   • Dessert (Espresso, Cinnamon) — ZYN has Coffee, but no one owns dessert</a:t>
            </a:r>
          </a:p>
          <a:p>
            <a:pPr spc="100"/>
            <a:r>
              <a:rPr sz="1600">
                <a:solidFill>
                  <a:srgbClr val="000000"/>
                </a:solidFill>
              </a:rPr>
              <a:t>•   • Tropical fruit-mint blends — Juice Head plays here but has regulatory risk</a:t>
            </a:r>
          </a:p>
          <a:p>
            <a:pPr spc="100"/>
            <a:r>
              <a:rPr sz="1600">
                <a:solidFill>
                  <a:srgbClr val="000000"/>
                </a:solidFill>
              </a:rPr>
              <a:t>•   • High-strength fruit (12mg) — most competitors cap flavored at 6–8mg</a:t>
            </a:r>
          </a:p>
        </p:txBody>
      </p:sp>
      <p:sp>
        <p:nvSpPr>
          <p:cNvPr id="4" name="TextBox 3"/>
          <p:cNvSpPr txBox="1"/>
          <p:nvPr/>
        </p:nvSpPr>
        <p:spPr>
          <a:xfrm>
            <a:off x="457200" y="6217920"/>
            <a:ext cx="10972800" cy="320040"/>
          </a:xfrm>
          <a:prstGeom prst="rect">
            <a:avLst/>
          </a:prstGeom>
          <a:noFill/>
        </p:spPr>
        <p:txBody>
          <a:bodyPr wrap="square">
            <a:spAutoFit/>
          </a:bodyPr>
          <a:lstStyle/>
          <a:p>
            <a:pPr algn="l"/>
            <a:r>
              <a:rPr b="0" sz="900">
                <a:solidFill>
                  <a:srgbClr val="C0C0C0"/>
                </a:solidFill>
              </a:rPr>
              <a:t>Source: Brand websites, NielsenIQ competitive tracking.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00000"/>
                </a:solidFill>
              </a:rPr>
              <a:t>APPENDIX: PACKAGING MOCKUPS</a:t>
            </a:r>
          </a:p>
        </p:txBody>
      </p:sp>
      <p:sp>
        <p:nvSpPr>
          <p:cNvPr id="3" name="TextBox 2"/>
          <p:cNvSpPr txBox="1"/>
          <p:nvPr/>
        </p:nvSpPr>
        <p:spPr>
          <a:xfrm>
            <a:off x="457200" y="1051560"/>
            <a:ext cx="11247120" cy="5029200"/>
          </a:xfrm>
          <a:prstGeom prst="rect">
            <a:avLst/>
          </a:prstGeom>
          <a:noFill/>
        </p:spPr>
        <p:txBody>
          <a:bodyPr wrap="square">
            <a:spAutoFit/>
          </a:bodyPr>
          <a:lstStyle/>
          <a:p>
            <a:pPr spc="100"/>
            <a:r>
              <a:rPr sz="1600">
                <a:solidFill>
                  <a:srgbClr val="000000"/>
                </a:solidFill>
              </a:rPr>
              <a:t>• [Insert FRE Labs packaging mockup images here]</a:t>
            </a:r>
          </a:p>
          <a:p>
            <a:pPr spc="100"/>
            <a:r>
              <a:rPr sz="1600">
                <a:solidFill>
                  <a:srgbClr val="000000"/>
                </a:solidFill>
              </a:rPr>
              <a:t>• </a:t>
            </a:r>
          </a:p>
          <a:p>
            <a:pPr spc="100"/>
            <a:r>
              <a:rPr sz="1600">
                <a:solidFill>
                  <a:srgbClr val="000000"/>
                </a:solidFill>
              </a:rPr>
              <a:t>• All products branded as 'FRE Labs' — not 'FRE Flavor Labs'</a:t>
            </a:r>
          </a:p>
          <a:p>
            <a:pPr spc="100"/>
            <a:r>
              <a:rPr sz="1600">
                <a:solidFill>
                  <a:srgbClr val="000000"/>
                </a:solidFill>
              </a:rPr>
              <a:t>• 15-count cans | $4.99 MSRP</a:t>
            </a:r>
          </a:p>
          <a:p>
            <a:pPr spc="100"/>
            <a:r>
              <a:rPr sz="1600">
                <a:solidFill>
                  <a:srgbClr val="000000"/>
                </a:solidFill>
              </a:rPr>
              <a:t>• Design language: versioned (v1, v2…), collab-ready templates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00000"/>
                </a:solidFill>
              </a:rPr>
              <a:t>APPENDIX: STILL NEED TO ANSWER</a:t>
            </a:r>
          </a:p>
        </p:txBody>
      </p:sp>
      <p:sp>
        <p:nvSpPr>
          <p:cNvPr id="3" name="TextBox 2"/>
          <p:cNvSpPr txBox="1"/>
          <p:nvPr/>
        </p:nvSpPr>
        <p:spPr>
          <a:xfrm>
            <a:off x="457200" y="1051560"/>
            <a:ext cx="11247120" cy="5029200"/>
          </a:xfrm>
          <a:prstGeom prst="rect">
            <a:avLst/>
          </a:prstGeom>
          <a:noFill/>
        </p:spPr>
        <p:txBody>
          <a:bodyPr wrap="square">
            <a:spAutoFit/>
          </a:bodyPr>
          <a:lstStyle/>
          <a:p>
            <a:pPr spc="100"/>
            <a:r>
              <a:rPr sz="1600">
                <a:solidFill>
                  <a:srgbClr val="000000"/>
                </a:solidFill>
              </a:rPr>
              <a:t>• [HIGH] Lucy deal status — confirm closed vs. pending before presenting to Rohith</a:t>
            </a:r>
          </a:p>
          <a:p>
            <a:pPr spc="100"/>
            <a:r>
              <a:rPr sz="1600">
                <a:solidFill>
                  <a:srgbClr val="000000"/>
                </a:solidFill>
              </a:rPr>
              <a:t>• [HIGH] Marketing spend / CAC — what does Y1 consumer acquisition cost? Not modeled yet</a:t>
            </a:r>
          </a:p>
          <a:p>
            <a:pPr spc="100"/>
            <a:r>
              <a:rPr sz="1600">
                <a:solidFill>
                  <a:srgbClr val="000000"/>
                </a:solidFill>
              </a:rPr>
              <a:t>• [HIGH] White-label margin profile — need COGS data for profitability layer (revenue-only model currently)</a:t>
            </a:r>
          </a:p>
          <a:p>
            <a:pPr spc="100"/>
            <a:r>
              <a:rPr sz="1600">
                <a:solidFill>
                  <a:srgbClr val="000000"/>
                </a:solidFill>
              </a:rPr>
              <a:t>• [MEDIUM] Cannibalization risk — model assumes 100% incremental; may need haircut if Rohith pushes</a:t>
            </a:r>
          </a:p>
          <a:p>
            <a:pPr spc="100"/>
            <a:r>
              <a:rPr sz="1600">
                <a:solidFill>
                  <a:srgbClr val="000000"/>
                </a:solidFill>
              </a:rPr>
              <a:t>• [MEDIUM] Juice Head PMTA path — RTF/RTR resolution timeline unclear; phased model includes sensitivity if deal dies</a:t>
            </a:r>
          </a:p>
          <a:p>
            <a:pPr spc="100"/>
            <a:r>
              <a:rPr sz="1600">
                <a:solidFill>
                  <a:srgbClr val="000000"/>
                </a:solidFill>
              </a:rPr>
              <a:t>• [LOW] Packaging mockup images needed for appendix slide</a:t>
            </a:r>
          </a:p>
          <a:p>
            <a:pPr spc="100"/>
            <a:r>
              <a:rPr sz="1600">
                <a:solidFill>
                  <a:srgbClr val="000000"/>
                </a:solidFill>
              </a:rPr>
              <a:t>• [LOW] FDA PMTA timeline for net-new flavor development — estimate 18+ months but not stated as fact in main deck</a:t>
            </a:r>
          </a:p>
        </p:txBody>
      </p:sp>
    </p:spTree>
  </p:cSld>
  <p:clrMapOvr>
    <a:masterClrMapping/>
  </p:clrMapOvr>
</p:sld>
</file>

<file path=ppt/theme/theme1.xml><?xml version="1.0" encoding="utf-8"?>
<a:theme xmlns:a="http://schemas.openxmlformats.org/drawingml/2006/main" name="TPB_PP_Theme_TITLE">
  <a:themeElements>
    <a:clrScheme name="Office Theme">
      <a:dk1>
        <a:srgbClr val="000000"/>
      </a:dk1>
      <a:lt1>
        <a:srgbClr val="FFFFFF"/>
      </a:lt1>
      <a:dk2>
        <a:srgbClr val="A7A7A7"/>
      </a:dk2>
      <a:lt2>
        <a:srgbClr val="535353"/>
      </a:lt2>
      <a:accent1>
        <a:srgbClr val="D8D8D8"/>
      </a:accent1>
      <a:accent2>
        <a:srgbClr val="A5A5A5"/>
      </a:accent2>
      <a:accent3>
        <a:srgbClr val="7F7F7F"/>
      </a:accent3>
      <a:accent4>
        <a:srgbClr val="00B0F0"/>
      </a:accent4>
      <a:accent5>
        <a:srgbClr val="262626"/>
      </a:accent5>
      <a:accent6>
        <a:srgbClr val="4747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TPB_Corporate_Template" id="{78743B3D-166A-2C47-9958-CE2CFA746DBB}" vid="{2AE1A997-23B2-7244-B188-C644C43DAAC3}"/>
    </a:ext>
  </a:extLst>
</a:theme>
</file>

<file path=ppt/theme/theme2.xml><?xml version="1.0" encoding="utf-8"?>
<a:theme xmlns:a="http://schemas.openxmlformats.org/drawingml/2006/main" name="1_TPB_PP_Theme_Content Slide">
  <a:themeElements>
    <a:clrScheme name="Office Theme">
      <a:dk1>
        <a:srgbClr val="000000"/>
      </a:dk1>
      <a:lt1>
        <a:srgbClr val="FFFFFF"/>
      </a:lt1>
      <a:dk2>
        <a:srgbClr val="A7A7A7"/>
      </a:dk2>
      <a:lt2>
        <a:srgbClr val="535353"/>
      </a:lt2>
      <a:accent1>
        <a:srgbClr val="D8D8D8"/>
      </a:accent1>
      <a:accent2>
        <a:srgbClr val="A5A5A5"/>
      </a:accent2>
      <a:accent3>
        <a:srgbClr val="7F7F7F"/>
      </a:accent3>
      <a:accent4>
        <a:srgbClr val="00B0F0"/>
      </a:accent4>
      <a:accent5>
        <a:srgbClr val="262626"/>
      </a:accent5>
      <a:accent6>
        <a:srgbClr val="474747"/>
      </a:accent6>
      <a:hlink>
        <a:srgbClr val="0000FF"/>
      </a:hlink>
      <a:folHlink>
        <a:srgbClr val="FF00FF"/>
      </a:folHlink>
    </a:clrScheme>
    <a:fontScheme name="Custom 1">
      <a:majorFont>
        <a:latin typeface="Helvetica Neue"/>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TPB_Corporate_Template" id="{78743B3D-166A-2C47-9958-CE2CFA746DBB}" vid="{81867E77-5C1D-994F-8C16-857718B6CAB2}"/>
    </a:ext>
  </a:extLst>
</a:theme>
</file>

<file path=ppt/theme/theme3.xml><?xml version="1.0" encoding="utf-8"?>
<a:theme xmlns:a="http://schemas.openxmlformats.org/drawingml/2006/main" name="1_TPB_PP_Theme_Grouping Slide">
  <a:themeElements>
    <a:clrScheme name="Office Theme">
      <a:dk1>
        <a:srgbClr val="000000"/>
      </a:dk1>
      <a:lt1>
        <a:srgbClr val="FFFFFF"/>
      </a:lt1>
      <a:dk2>
        <a:srgbClr val="A7A7A7"/>
      </a:dk2>
      <a:lt2>
        <a:srgbClr val="535353"/>
      </a:lt2>
      <a:accent1>
        <a:srgbClr val="D8D8D8"/>
      </a:accent1>
      <a:accent2>
        <a:srgbClr val="A5A5A5"/>
      </a:accent2>
      <a:accent3>
        <a:srgbClr val="7F7F7F"/>
      </a:accent3>
      <a:accent4>
        <a:srgbClr val="00B0F0"/>
      </a:accent4>
      <a:accent5>
        <a:srgbClr val="262626"/>
      </a:accent5>
      <a:accent6>
        <a:srgbClr val="4747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TPB_Corporate_Template" id="{78743B3D-166A-2C47-9958-CE2CFA746DBB}" vid="{F6CE499B-1942-F447-8BFE-D3712C1C190C}"/>
    </a:ext>
  </a:extLst>
</a:theme>
</file>

<file path=docProps/app.xml><?xml version="1.0" encoding="utf-8"?>
<Properties xmlns="http://schemas.openxmlformats.org/officeDocument/2006/extended-properties" xmlns:vt="http://schemas.openxmlformats.org/officeDocument/2006/docPropsVTypes">
  <Template/>
  <TotalTime>1810</TotalTime>
  <Words>18</Words>
  <Application>Microsoft Office PowerPoint</Application>
  <PresentationFormat>Widescreen</PresentationFormat>
  <Paragraphs>12</Paragraphs>
  <Slides>4</Slides>
  <Notes>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4</vt:i4>
      </vt:variant>
    </vt:vector>
  </HeadingPairs>
  <TitlesOfParts>
    <vt:vector size="14" baseType="lpstr">
      <vt:lpstr>Arial</vt:lpstr>
      <vt:lpstr>Calibri</vt:lpstr>
      <vt:lpstr>Calibri Light</vt:lpstr>
      <vt:lpstr>Helvetica</vt:lpstr>
      <vt:lpstr>Helvetica Neue</vt:lpstr>
      <vt:lpstr>Helvetica Neue Medium</vt:lpstr>
      <vt:lpstr>Poppins</vt:lpstr>
      <vt:lpstr>TPB_PP_Theme_TITLE</vt:lpstr>
      <vt:lpstr>1_TPB_PP_Theme_Content Slide</vt:lpstr>
      <vt:lpstr>1_TPB_PP_Theme_Grouping Slide</vt:lpstr>
      <vt:lpstr>PowerPoint Presentation</vt:lpstr>
      <vt:lpstr>xxx</vt:lpstr>
      <vt:lpstr>xxx</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Hernandez</dc:creator>
  <cp:lastModifiedBy>Alexander Foster</cp:lastModifiedBy>
  <cp:revision>15</cp:revision>
  <dcterms:created xsi:type="dcterms:W3CDTF">2023-08-10T06:02:41Z</dcterms:created>
  <dcterms:modified xsi:type="dcterms:W3CDTF">2026-03-17T04:33:23Z</dcterms:modified>
</cp:coreProperties>
</file>