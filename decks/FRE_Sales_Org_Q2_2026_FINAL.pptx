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7" r:id="rId3"/>
  </p:sldMasterIdLst>
  <p:sldIdLst>
    <p:sldId id="256" r:id="rId7"/>
    <p:sldId id="257" r:id="rId6"/>
    <p:sldId id="258" r:id="rId5"/>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2C5AC2-BD92-429D-A74C-D27B4E0E72A8}" v="3" dt="2026-03-17T04:33:02.3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6667"/>
    <p:restoredTop sz="96327"/>
  </p:normalViewPr>
  <p:slideViewPr>
    <p:cSldViewPr snapToGrid="0">
      <p:cViewPr>
        <p:scale>
          <a:sx n="100" d="100"/>
          <a:sy n="100" d="100"/>
        </p:scale>
        <p:origin x="786" y="26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33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CF43629F-2DE2-051E-4125-1049812B126B}"/>
              </a:ext>
            </a:extLst>
          </p:cNvPr>
          <p:cNvSpPr>
            <a:spLocks noGrp="1"/>
          </p:cNvSpPr>
          <p:nvPr>
            <p:ph type="title"/>
          </p:nvPr>
        </p:nvSpPr>
        <p:spPr>
          <a:xfrm>
            <a:off x="457262" y="370553"/>
            <a:ext cx="10515600" cy="316508"/>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861845259"/>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6363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876876A-756E-769F-1FF5-D663F31A4D8A}"/>
              </a:ext>
            </a:extLst>
          </p:cNvPr>
          <p:cNvSpPr/>
          <p:nvPr userDrawn="1"/>
        </p:nvSpPr>
        <p:spPr>
          <a:xfrm>
            <a:off x="-10202" y="6558110"/>
            <a:ext cx="12192000" cy="299890"/>
          </a:xfrm>
          <a:prstGeom prst="rect">
            <a:avLst/>
          </a:prstGeom>
          <a:solidFill>
            <a:schemeClr val="accent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Calibri"/>
            </a:endParaRPr>
          </a:p>
        </p:txBody>
      </p:sp>
      <p:pic>
        <p:nvPicPr>
          <p:cNvPr id="7" name="Turning Point Brands Logo 1-01.png" descr="Turning Point Brands Logo 1-01.png">
            <a:extLst>
              <a:ext uri="{FF2B5EF4-FFF2-40B4-BE49-F238E27FC236}">
                <a16:creationId xmlns:a16="http://schemas.microsoft.com/office/drawing/2014/main" id="{15E073BE-E684-83CC-A979-85FA575B3FAA}"/>
              </a:ext>
            </a:extLst>
          </p:cNvPr>
          <p:cNvPicPr>
            <a:picLocks noChangeAspect="1"/>
          </p:cNvPicPr>
          <p:nvPr userDrawn="1"/>
        </p:nvPicPr>
        <p:blipFill>
          <a:blip r:embed="rId3"/>
          <a:srcRect t="30335" b="30335"/>
          <a:stretch>
            <a:fillRect/>
          </a:stretch>
        </p:blipFill>
        <p:spPr>
          <a:xfrm>
            <a:off x="3296542" y="791967"/>
            <a:ext cx="5598915" cy="2201989"/>
          </a:xfrm>
          <a:prstGeom prst="rect">
            <a:avLst/>
          </a:prstGeom>
          <a:ln w="12700">
            <a:miter lim="400000"/>
          </a:ln>
        </p:spPr>
      </p:pic>
      <p:sp>
        <p:nvSpPr>
          <p:cNvPr id="3" name="Title 20">
            <a:extLst>
              <a:ext uri="{FF2B5EF4-FFF2-40B4-BE49-F238E27FC236}">
                <a16:creationId xmlns:a16="http://schemas.microsoft.com/office/drawing/2014/main" id="{EA11AF65-45D1-35B3-4812-1748D005BCDE}"/>
              </a:ext>
            </a:extLst>
          </p:cNvPr>
          <p:cNvSpPr txBox="1"/>
          <p:nvPr userDrawn="1"/>
        </p:nvSpPr>
        <p:spPr>
          <a:xfrm>
            <a:off x="1454898" y="653368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4" name="Text">
            <a:extLst>
              <a:ext uri="{FF2B5EF4-FFF2-40B4-BE49-F238E27FC236}">
                <a16:creationId xmlns:a16="http://schemas.microsoft.com/office/drawing/2014/main" id="{179FE7FA-A6EB-69D1-2CDA-7E9FDBB6E9C9}"/>
              </a:ext>
            </a:extLst>
          </p:cNvPr>
          <p:cNvSpPr txBox="1"/>
          <p:nvPr userDrawn="1"/>
        </p:nvSpPr>
        <p:spPr>
          <a:xfrm>
            <a:off x="291407" y="6598832"/>
            <a:ext cx="206145"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spTree>
    <p:extLst>
      <p:ext uri="{BB962C8B-B14F-4D97-AF65-F5344CB8AC3E}">
        <p14:creationId xmlns:p14="http://schemas.microsoft.com/office/powerpoint/2010/main" val="243271137"/>
      </p:ext>
    </p:extLst>
  </p:cSld>
  <p:clrMap bg1="lt1" tx1="dk1" bg2="lt2" tx2="dk2" accent1="accent1" accent2="accent2" accent3="accent3" accent4="accent4" accent5="accent5" accent6="accent6" hlink="hlink" folHlink="folHlink"/>
  <p:sldLayoutIdLst>
    <p:sldLayoutId id="2147483672" r:id="rId1"/>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019690D-BBEB-A894-5633-35FA498A700A}"/>
              </a:ext>
            </a:extLst>
          </p:cNvPr>
          <p:cNvSpPr/>
          <p:nvPr userDrawn="1"/>
        </p:nvSpPr>
        <p:spPr>
          <a:xfrm>
            <a:off x="1" y="6567676"/>
            <a:ext cx="12192000" cy="290324"/>
          </a:xfrm>
          <a:prstGeom prst="rect">
            <a:avLst/>
          </a:prstGeom>
          <a:solidFill>
            <a:schemeClr val="bg1">
              <a:lumMod val="95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6" name="Title 20">
            <a:extLst>
              <a:ext uri="{FF2B5EF4-FFF2-40B4-BE49-F238E27FC236}">
                <a16:creationId xmlns:a16="http://schemas.microsoft.com/office/drawing/2014/main" id="{A0830267-5F54-68D0-7739-01F3264F385C}"/>
              </a:ext>
            </a:extLst>
          </p:cNvPr>
          <p:cNvSpPr txBox="1"/>
          <p:nvPr userDrawn="1"/>
        </p:nvSpPr>
        <p:spPr>
          <a:xfrm>
            <a:off x="1454898" y="651463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7" name="Text">
            <a:extLst>
              <a:ext uri="{FF2B5EF4-FFF2-40B4-BE49-F238E27FC236}">
                <a16:creationId xmlns:a16="http://schemas.microsoft.com/office/drawing/2014/main" id="{2A12FD36-4F64-7C8D-A792-3F61AFA48D8A}"/>
              </a:ext>
            </a:extLst>
          </p:cNvPr>
          <p:cNvSpPr txBox="1"/>
          <p:nvPr userDrawn="1"/>
        </p:nvSpPr>
        <p:spPr>
          <a:xfrm>
            <a:off x="275378" y="6598832"/>
            <a:ext cx="23820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pic>
        <p:nvPicPr>
          <p:cNvPr id="9" name="Turning Point Brands Logo.png" descr="Turning Point Brands Logo.png">
            <a:extLst>
              <a:ext uri="{FF2B5EF4-FFF2-40B4-BE49-F238E27FC236}">
                <a16:creationId xmlns:a16="http://schemas.microsoft.com/office/drawing/2014/main" id="{AA7828D1-385A-598D-FEA3-F4C68B6BA3F4}"/>
              </a:ext>
            </a:extLst>
          </p:cNvPr>
          <p:cNvPicPr>
            <a:picLocks noChangeAspect="1"/>
          </p:cNvPicPr>
          <p:nvPr userDrawn="1"/>
        </p:nvPicPr>
        <p:blipFill>
          <a:blip r:embed="rId3"/>
          <a:stretch>
            <a:fillRect/>
          </a:stretch>
        </p:blipFill>
        <p:spPr>
          <a:xfrm>
            <a:off x="10603544" y="267260"/>
            <a:ext cx="1131193" cy="388645"/>
          </a:xfrm>
          <a:prstGeom prst="rect">
            <a:avLst/>
          </a:prstGeom>
          <a:ln w="12700">
            <a:miter lim="400000"/>
          </a:ln>
        </p:spPr>
      </p:pic>
      <p:cxnSp>
        <p:nvCxnSpPr>
          <p:cNvPr id="10" name="Straight Connector 9">
            <a:extLst>
              <a:ext uri="{FF2B5EF4-FFF2-40B4-BE49-F238E27FC236}">
                <a16:creationId xmlns:a16="http://schemas.microsoft.com/office/drawing/2014/main" id="{FD2AD4A0-1E8B-A237-136D-F6487A203716}"/>
              </a:ext>
            </a:extLst>
          </p:cNvPr>
          <p:cNvCxnSpPr>
            <a:cxnSpLocks/>
          </p:cNvCxnSpPr>
          <p:nvPr userDrawn="1"/>
        </p:nvCxnSpPr>
        <p:spPr>
          <a:xfrm flipV="1">
            <a:off x="457262" y="760104"/>
            <a:ext cx="11277475" cy="6620"/>
          </a:xfrm>
          <a:prstGeom prst="line">
            <a:avLst/>
          </a:prstGeom>
          <a:ln w="19050">
            <a:solidFill>
              <a:schemeClr val="accent1">
                <a:lumMod val="75000"/>
              </a:schemeClr>
            </a:solidFill>
          </a:ln>
        </p:spPr>
        <p:style>
          <a:lnRef idx="2">
            <a:schemeClr val="accent4"/>
          </a:lnRef>
          <a:fillRef idx="0">
            <a:schemeClr val="accent4"/>
          </a:fillRef>
          <a:effectRef idx="1">
            <a:schemeClr val="accent4"/>
          </a:effectRef>
          <a:fontRef idx="minor">
            <a:schemeClr val="tx1"/>
          </a:fontRef>
        </p:style>
      </p:cxnSp>
      <p:sp>
        <p:nvSpPr>
          <p:cNvPr id="3" name="Title Placeholder 1">
            <a:extLst>
              <a:ext uri="{FF2B5EF4-FFF2-40B4-BE49-F238E27FC236}">
                <a16:creationId xmlns:a16="http://schemas.microsoft.com/office/drawing/2014/main" id="{8A85D06A-E24B-42D5-65DF-A46C1BEAE45B}"/>
              </a:ext>
            </a:extLst>
          </p:cNvPr>
          <p:cNvSpPr>
            <a:spLocks noGrp="1"/>
          </p:cNvSpPr>
          <p:nvPr>
            <p:ph type="title"/>
          </p:nvPr>
        </p:nvSpPr>
        <p:spPr>
          <a:xfrm>
            <a:off x="457262" y="370553"/>
            <a:ext cx="10515600" cy="316508"/>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1943056335"/>
      </p:ext>
    </p:extLst>
  </p:cSld>
  <p:clrMap bg1="lt1" tx1="dk1" bg2="lt2" tx2="dk2" accent1="accent1" accent2="accent2" accent3="accent3" accent4="accent4" accent5="accent5" accent6="accent6" hlink="hlink" folHlink="folHlink"/>
  <p:sldLayoutIdLst>
    <p:sldLayoutId id="2147483684" r:id="rId1"/>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sz="2000" b="1" i="0" u="none" strike="noStrike" cap="none" spc="0" baseline="0">
          <a:ln>
            <a:noFill/>
          </a:ln>
          <a:solidFill>
            <a:srgbClr val="000000"/>
          </a:solidFill>
          <a:uFillTx/>
          <a:latin typeface="+mj-lt"/>
          <a:ea typeface="Calibri Light"/>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000" b="0" i="0" u="none" strike="noStrike" cap="none" spc="0" baseline="0">
          <a:ln>
            <a:noFill/>
          </a:ln>
          <a:solidFill>
            <a:schemeClr val="tx1">
              <a:lumMod val="85000"/>
              <a:lumOff val="15000"/>
            </a:schemeClr>
          </a:solidFill>
          <a:uFillTx/>
          <a:latin typeface="Helvetica" pitchFamily="2" charset="0"/>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1800" b="0" i="0" u="none" strike="noStrike" cap="none" spc="0" baseline="0">
          <a:ln>
            <a:noFill/>
          </a:ln>
          <a:solidFill>
            <a:schemeClr val="tx1">
              <a:lumMod val="85000"/>
              <a:lumOff val="15000"/>
            </a:schemeClr>
          </a:solidFill>
          <a:uFillTx/>
          <a:latin typeface="Helvetica" pitchFamily="2" charset="0"/>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1600" b="0" i="0" u="none" strike="noStrike" cap="none" spc="0" baseline="0">
          <a:ln>
            <a:noFill/>
          </a:ln>
          <a:solidFill>
            <a:schemeClr val="tx1">
              <a:lumMod val="85000"/>
              <a:lumOff val="15000"/>
            </a:schemeClr>
          </a:solidFill>
          <a:uFillTx/>
          <a:latin typeface="Helvetica" pitchFamily="2" charset="0"/>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1400" b="0" i="0" u="none" strike="noStrike" cap="none" spc="0" baseline="0">
          <a:ln>
            <a:noFill/>
          </a:ln>
          <a:solidFill>
            <a:schemeClr val="tx1">
              <a:lumMod val="85000"/>
              <a:lumOff val="15000"/>
            </a:schemeClr>
          </a:solidFill>
          <a:uFillTx/>
          <a:latin typeface="Helvetica" pitchFamily="2" charset="0"/>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1400" b="0" i="0" u="none" strike="noStrike" cap="none" spc="0" baseline="0">
          <a:ln>
            <a:noFill/>
          </a:ln>
          <a:solidFill>
            <a:schemeClr val="tx1">
              <a:lumMod val="85000"/>
              <a:lumOff val="15000"/>
            </a:schemeClr>
          </a:solidFill>
          <a:uFillTx/>
          <a:latin typeface="Helvetica" pitchFamily="2" charset="0"/>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7" name="Turning Point Brands Logo.png" descr="Turning Point Brands Logo.png">
            <a:extLst>
              <a:ext uri="{FF2B5EF4-FFF2-40B4-BE49-F238E27FC236}">
                <a16:creationId xmlns:a16="http://schemas.microsoft.com/office/drawing/2014/main" id="{CB7FD011-EF67-8E04-BFA2-1C27325D5B6A}"/>
              </a:ext>
            </a:extLst>
          </p:cNvPr>
          <p:cNvPicPr>
            <a:picLocks noChangeAspect="1"/>
          </p:cNvPicPr>
          <p:nvPr userDrawn="1"/>
        </p:nvPicPr>
        <p:blipFill>
          <a:blip r:embed="rId2"/>
          <a:stretch>
            <a:fillRect/>
          </a:stretch>
        </p:blipFill>
        <p:spPr>
          <a:xfrm>
            <a:off x="10603544" y="267260"/>
            <a:ext cx="1131193" cy="388645"/>
          </a:xfrm>
          <a:prstGeom prst="rect">
            <a:avLst/>
          </a:prstGeom>
          <a:ln w="12700">
            <a:miter lim="400000"/>
          </a:ln>
        </p:spPr>
      </p:pic>
      <p:grpSp>
        <p:nvGrpSpPr>
          <p:cNvPr id="6" name="Group 5">
            <a:extLst>
              <a:ext uri="{FF2B5EF4-FFF2-40B4-BE49-F238E27FC236}">
                <a16:creationId xmlns:a16="http://schemas.microsoft.com/office/drawing/2014/main" id="{2F8984D2-B12B-270B-687D-0B2FEA28D5A8}"/>
              </a:ext>
            </a:extLst>
          </p:cNvPr>
          <p:cNvGrpSpPr/>
          <p:nvPr userDrawn="1"/>
        </p:nvGrpSpPr>
        <p:grpSpPr>
          <a:xfrm>
            <a:off x="12014825" y="1862280"/>
            <a:ext cx="215442" cy="3133440"/>
            <a:chOff x="12014825" y="1862280"/>
            <a:chExt cx="215442" cy="3133440"/>
          </a:xfrm>
        </p:grpSpPr>
        <p:sp>
          <p:nvSpPr>
            <p:cNvPr id="7" name="Rectangle 6">
              <a:extLst>
                <a:ext uri="{FF2B5EF4-FFF2-40B4-BE49-F238E27FC236}">
                  <a16:creationId xmlns:a16="http://schemas.microsoft.com/office/drawing/2014/main" id="{F366C67E-01C1-6AD9-5C35-3D0774EC1A46}"/>
                </a:ext>
              </a:extLst>
            </p:cNvPr>
            <p:cNvSpPr/>
            <p:nvPr userDrawn="1"/>
          </p:nvSpPr>
          <p:spPr>
            <a:xfrm>
              <a:off x="12045142" y="1862280"/>
              <a:ext cx="146858" cy="3133440"/>
            </a:xfrm>
            <a:prstGeom prst="rect">
              <a:avLst/>
            </a:prstGeom>
            <a:solidFill>
              <a:schemeClr val="accent4"/>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j-lt"/>
                <a:ea typeface="+mj-ea"/>
                <a:cs typeface="+mj-cs"/>
                <a:sym typeface="Calibri"/>
              </a:endParaRPr>
            </a:p>
          </p:txBody>
        </p:sp>
        <p:sp>
          <p:nvSpPr>
            <p:cNvPr id="8" name="TextBox 7">
              <a:extLst>
                <a:ext uri="{FF2B5EF4-FFF2-40B4-BE49-F238E27FC236}">
                  <a16:creationId xmlns:a16="http://schemas.microsoft.com/office/drawing/2014/main" id="{992E5C0F-811B-A72E-430D-9DE0D7650349}"/>
                </a:ext>
              </a:extLst>
            </p:cNvPr>
            <p:cNvSpPr txBox="1"/>
            <p:nvPr userDrawn="1"/>
          </p:nvSpPr>
          <p:spPr>
            <a:xfrm rot="5400000">
              <a:off x="11274077" y="3321278"/>
              <a:ext cx="1696937"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800" u="none" strike="noStrike" cap="none" spc="0" normalizeH="0" baseline="0" dirty="0">
                  <a:ln>
                    <a:noFill/>
                  </a:ln>
                  <a:solidFill>
                    <a:schemeClr val="bg1"/>
                  </a:solidFill>
                  <a:effectLst/>
                  <a:uFillTx/>
                  <a:latin typeface="Helvetica Neue Medium" panose="02000503000000020004" pitchFamily="2" charset="0"/>
                  <a:ea typeface="Helvetica Neue Medium" panose="02000503000000020004" pitchFamily="2" charset="0"/>
                  <a:cs typeface="Helvetica Neue Medium" panose="02000503000000020004" pitchFamily="2" charset="0"/>
                  <a:sym typeface="Calibri"/>
                </a:rPr>
                <a:t>Turning Point Brands (NYSE: TPB)</a:t>
              </a:r>
            </a:p>
          </p:txBody>
        </p:sp>
      </p:grpSp>
      <p:sp>
        <p:nvSpPr>
          <p:cNvPr id="9" name="Rectangle 8">
            <a:extLst>
              <a:ext uri="{FF2B5EF4-FFF2-40B4-BE49-F238E27FC236}">
                <a16:creationId xmlns:a16="http://schemas.microsoft.com/office/drawing/2014/main" id="{ABB96CB7-90D9-C3AB-907A-931BF87B47AF}"/>
              </a:ext>
            </a:extLst>
          </p:cNvPr>
          <p:cNvSpPr/>
          <p:nvPr userDrawn="1"/>
        </p:nvSpPr>
        <p:spPr>
          <a:xfrm>
            <a:off x="1" y="6567676"/>
            <a:ext cx="12192000" cy="290324"/>
          </a:xfrm>
          <a:prstGeom prst="rect">
            <a:avLst/>
          </a:prstGeom>
          <a:solidFill>
            <a:schemeClr val="bg1">
              <a:lumMod val="95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Calibri"/>
            </a:endParaRPr>
          </a:p>
        </p:txBody>
      </p:sp>
      <p:sp>
        <p:nvSpPr>
          <p:cNvPr id="10" name="Title 20">
            <a:extLst>
              <a:ext uri="{FF2B5EF4-FFF2-40B4-BE49-F238E27FC236}">
                <a16:creationId xmlns:a16="http://schemas.microsoft.com/office/drawing/2014/main" id="{D0F8E446-B29A-A488-B699-4DFAFFF022DD}"/>
              </a:ext>
            </a:extLst>
          </p:cNvPr>
          <p:cNvSpPr txBox="1"/>
          <p:nvPr userDrawn="1"/>
        </p:nvSpPr>
        <p:spPr>
          <a:xfrm>
            <a:off x="1454898" y="6514637"/>
            <a:ext cx="9261800" cy="3530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1926" tIns="121926" rIns="121926" bIns="121926" anchor="ctr">
            <a:spAutoFit/>
          </a:bodyPr>
          <a:lstStyle/>
          <a:p>
            <a:pPr marL="0" marR="0" lvl="0" indent="0" algn="ctr" defTabSz="457200" rtl="0" eaLnBrk="1" fontAlgn="auto" latinLnBrk="0" hangingPunct="0">
              <a:lnSpc>
                <a:spcPct val="130000"/>
              </a:lnSpc>
              <a:spcBef>
                <a:spcPts val="0"/>
              </a:spcBef>
              <a:spcAft>
                <a:spcPts val="0"/>
              </a:spcAft>
              <a:buClrTx/>
              <a:buSzTx/>
              <a:buFontTx/>
              <a:buNone/>
              <a:tabLst/>
              <a:defRPr sz="900" b="1" spc="300">
                <a:latin typeface="Poppins"/>
                <a:ea typeface="Poppins"/>
                <a:cs typeface="Poppins"/>
                <a:sym typeface="Poppins"/>
              </a:defRPr>
            </a:pPr>
            <a:r>
              <a:rPr kumimoji="0" lang="en-US"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rPr>
              <a:t>|  NYSE: TPB  |  5201 INTERCHANGE WAY, LOUISVILLE KY  |  TURNINGPOINTBRANDS.COM  |</a:t>
            </a:r>
            <a:endParaRPr kumimoji="0" sz="600" b="1" i="0" u="none" strike="noStrike" kern="0" cap="none" spc="30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Poppins"/>
            </a:endParaRPr>
          </a:p>
        </p:txBody>
      </p:sp>
      <p:sp>
        <p:nvSpPr>
          <p:cNvPr id="11" name="Text">
            <a:extLst>
              <a:ext uri="{FF2B5EF4-FFF2-40B4-BE49-F238E27FC236}">
                <a16:creationId xmlns:a16="http://schemas.microsoft.com/office/drawing/2014/main" id="{7397C638-878E-05E6-164D-C0FDC33F0825}"/>
              </a:ext>
            </a:extLst>
          </p:cNvPr>
          <p:cNvSpPr txBox="1"/>
          <p:nvPr userDrawn="1"/>
        </p:nvSpPr>
        <p:spPr>
          <a:xfrm>
            <a:off x="275378" y="6598832"/>
            <a:ext cx="23820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fld id="{86CB4B4D-7CA3-9044-876B-883B54F8677D}" type="slidenum">
              <a:rPr kumimoji="0" sz="600" b="0" i="0" u="none" strike="noStrike" kern="0" cap="none" spc="0" normalizeH="0" baseline="0" noProof="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pPr marL="0" marR="0" lvl="0" indent="0" algn="ctr" defTabSz="914400" rtl="0" eaLnBrk="1" fontAlgn="auto" latinLnBrk="0" hangingPunct="0">
                <a:lnSpc>
                  <a:spcPct val="100000"/>
                </a:lnSpc>
                <a:spcBef>
                  <a:spcPts val="0"/>
                </a:spcBef>
                <a:spcAft>
                  <a:spcPts val="0"/>
                </a:spcAft>
                <a:buClrTx/>
                <a:buSzTx/>
                <a:buFontTx/>
                <a:buNone/>
                <a:tabLst/>
                <a:defRPr sz="1200">
                  <a:solidFill>
                    <a:srgbClr val="888888"/>
                  </a:solidFill>
                </a:defRPr>
              </a:pPr>
              <a:t>‹#›</a:t>
            </a:fld>
            <a:r>
              <a:rPr kumimoji="0" sz="600" b="0" i="0" u="none" strike="noStrike" kern="0" cap="none" spc="0" normalizeH="0" baseline="0" noProof="0" dirty="0">
                <a:ln>
                  <a:noFill/>
                </a:ln>
                <a:solidFill>
                  <a:srgbClr val="888888"/>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Calibri"/>
              </a:rPr>
              <a:t>￼</a:t>
            </a:r>
          </a:p>
        </p:txBody>
      </p:sp>
    </p:spTree>
    <p:extLst>
      <p:ext uri="{BB962C8B-B14F-4D97-AF65-F5344CB8AC3E}">
        <p14:creationId xmlns:p14="http://schemas.microsoft.com/office/powerpoint/2010/main" val="2255105550"/>
      </p:ext>
    </p:extLst>
  </p:cSld>
  <p:clrMap bg1="lt1" tx1="dk1" bg2="lt2" tx2="dk2" accent1="accent1" accent2="accent2" accent3="accent3" accent4="accent4" accent5="accent5" accent6="accent6" hlink="hlink" folHlink="folHlink"/>
  <p:transition spd="med"/>
  <p:txStyles>
    <p:titleStyle>
      <a:lvl1pPr marL="0" marR="0" indent="0" algn="l" defTabSz="914400" rtl="0" eaLnBrk="1" latinLnBrk="0" hangingPunct="1">
        <a:lnSpc>
          <a:spcPct val="90000"/>
        </a:lnSpc>
        <a:spcBef>
          <a:spcPts val="0"/>
        </a:spcBef>
        <a:spcAft>
          <a:spcPts val="0"/>
        </a:spcAft>
        <a:buClrTx/>
        <a:buSzTx/>
        <a:buFontTx/>
        <a:buNone/>
        <a:tabLst/>
        <a:defRPr sz="2400" b="1" i="0" u="none" strike="noStrike" cap="none" spc="0" baseline="0">
          <a:ln>
            <a:noFill/>
          </a:ln>
          <a:solidFill>
            <a:srgbClr val="000000"/>
          </a:solidFill>
          <a:uFillTx/>
          <a:latin typeface="Helvetica Neue" panose="02000403000000020004" pitchFamily="2"/>
          <a:ea typeface="Helvetica Neue" panose="02000403000000020004" pitchFamily="2"/>
          <a:cs typeface="Calibri Light"/>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502920"/>
            <a:ext cx="11247120" cy="45720"/>
          </a:xfrm>
          <a:prstGeom prst="rect">
            <a:avLst/>
          </a:prstGeom>
          <a:solidFill>
            <a:srgbClr val="00B0F0"/>
          </a:solidFill>
        </p:spPr>
        <p:txBody>
          <a:bodyPr wrap="none">
            <a:spAutoFit/>
          </a:bodyPr>
          <a:lstStyle/>
          <a:p/>
        </p:txBody>
      </p:sp>
      <p:sp>
        <p:nvSpPr>
          <p:cNvPr id="4" name="TextBox 3"/>
          <p:cNvSpPr txBox="1"/>
          <p:nvPr/>
        </p:nvSpPr>
        <p:spPr>
          <a:xfrm>
            <a:off x="457200" y="685800"/>
            <a:ext cx="11247120" cy="320040"/>
          </a:xfrm>
          <a:prstGeom prst="rect">
            <a:avLst/>
          </a:prstGeom>
          <a:noFill/>
        </p:spPr>
        <p:txBody>
          <a:bodyPr wrap="square">
            <a:spAutoFit/>
          </a:bodyPr>
          <a:lstStyle/>
          <a:p>
            <a:pPr algn="l"/>
            <a:r>
              <a:rPr b="0" sz="1000">
                <a:solidFill>
                  <a:srgbClr val="999999"/>
                </a:solidFill>
              </a:rPr>
              <a:t>DECK #3  —  FRE BRAND</a:t>
            </a:r>
          </a:p>
        </p:txBody>
      </p:sp>
      <p:sp>
        <p:nvSpPr>
          <p:cNvPr id="5" name="TextBox 4"/>
          <p:cNvSpPr txBox="1"/>
          <p:nvPr/>
        </p:nvSpPr>
        <p:spPr>
          <a:xfrm>
            <a:off x="457200" y="1371600"/>
            <a:ext cx="11247120" cy="1554480"/>
          </a:xfrm>
          <a:prstGeom prst="rect">
            <a:avLst/>
          </a:prstGeom>
          <a:noFill/>
        </p:spPr>
        <p:txBody>
          <a:bodyPr wrap="square">
            <a:spAutoFit/>
          </a:bodyPr>
          <a:lstStyle/>
          <a:p>
            <a:pPr algn="l"/>
            <a:r>
              <a:rPr b="1" sz="5200">
                <a:solidFill>
                  <a:srgbClr val="FFFFFF"/>
                </a:solidFill>
              </a:rPr>
              <a:t>FRE IS FOR THE ONES
WHO STAY SHARP.</a:t>
            </a:r>
          </a:p>
        </p:txBody>
      </p:sp>
      <p:sp>
        <p:nvSpPr>
          <p:cNvPr id="6" name="TextBox 5"/>
          <p:cNvSpPr txBox="1"/>
          <p:nvPr/>
        </p:nvSpPr>
        <p:spPr>
          <a:xfrm>
            <a:off x="457200" y="3108960"/>
            <a:ext cx="2286000" cy="54864"/>
          </a:xfrm>
          <a:prstGeom prst="rect">
            <a:avLst/>
          </a:prstGeom>
          <a:solidFill>
            <a:srgbClr val="00B0F0"/>
          </a:solidFill>
        </p:spPr>
        <p:txBody>
          <a:bodyPr wrap="none">
            <a:spAutoFit/>
          </a:bodyPr>
          <a:lstStyle/>
          <a:p/>
        </p:txBody>
      </p:sp>
      <p:sp>
        <p:nvSpPr>
          <p:cNvPr id="7" name="TextBox 6"/>
          <p:cNvSpPr txBox="1"/>
          <p:nvPr/>
        </p:nvSpPr>
        <p:spPr>
          <a:xfrm>
            <a:off x="457200" y="3291840"/>
            <a:ext cx="9601200" cy="347472"/>
          </a:xfrm>
          <a:prstGeom prst="rect">
            <a:avLst/>
          </a:prstGeom>
          <a:noFill/>
        </p:spPr>
        <p:txBody>
          <a:bodyPr wrap="square">
            <a:spAutoFit/>
          </a:bodyPr>
          <a:lstStyle/>
          <a:p>
            <a:pPr algn="l"/>
            <a:r>
              <a:rPr b="0" sz="1600">
                <a:solidFill>
                  <a:srgbClr val="CCCCCC"/>
                </a:solidFill>
              </a:rPr>
              <a:t>For the professional who needs nicotine, not narratives.</a:t>
            </a:r>
          </a:p>
        </p:txBody>
      </p:sp>
      <p:sp>
        <p:nvSpPr>
          <p:cNvPr id="8" name="TextBox 7"/>
          <p:cNvSpPr txBox="1"/>
          <p:nvPr/>
        </p:nvSpPr>
        <p:spPr>
          <a:xfrm>
            <a:off x="457200" y="3749039"/>
            <a:ext cx="9601200" cy="347472"/>
          </a:xfrm>
          <a:prstGeom prst="rect">
            <a:avLst/>
          </a:prstGeom>
          <a:noFill/>
        </p:spPr>
        <p:txBody>
          <a:bodyPr wrap="square">
            <a:spAutoFit/>
          </a:bodyPr>
          <a:lstStyle/>
          <a:p>
            <a:pPr algn="l"/>
            <a:r>
              <a:rPr b="0" sz="1600">
                <a:solidFill>
                  <a:srgbClr val="CCCCCC"/>
                </a:solidFill>
              </a:rPr>
              <a:t>Built for people who have shit to do.</a:t>
            </a:r>
          </a:p>
        </p:txBody>
      </p:sp>
      <p:sp>
        <p:nvSpPr>
          <p:cNvPr id="9" name="TextBox 8"/>
          <p:cNvSpPr txBox="1"/>
          <p:nvPr/>
        </p:nvSpPr>
        <p:spPr>
          <a:xfrm>
            <a:off x="457200" y="4206240"/>
            <a:ext cx="9601200" cy="347472"/>
          </a:xfrm>
          <a:prstGeom prst="rect">
            <a:avLst/>
          </a:prstGeom>
          <a:noFill/>
        </p:spPr>
        <p:txBody>
          <a:bodyPr wrap="square">
            <a:spAutoFit/>
          </a:bodyPr>
          <a:lstStyle/>
          <a:p>
            <a:pPr algn="l"/>
            <a:r>
              <a:rPr b="0" sz="1600">
                <a:solidFill>
                  <a:srgbClr val="CCCCCC"/>
                </a:solidFill>
              </a:rPr>
              <a:t>No wellness theater. No lifestyle cosplay. Just edge.</a:t>
            </a:r>
          </a:p>
        </p:txBody>
      </p:sp>
      <p:sp>
        <p:nvSpPr>
          <p:cNvPr id="10" name="TextBox 9"/>
          <p:cNvSpPr txBox="1"/>
          <p:nvPr/>
        </p:nvSpPr>
        <p:spPr>
          <a:xfrm>
            <a:off x="457200" y="6291072"/>
            <a:ext cx="11247120" cy="45720"/>
          </a:xfrm>
          <a:prstGeom prst="rect">
            <a:avLst/>
          </a:prstGeom>
          <a:solidFill>
            <a:srgbClr val="00B0F0"/>
          </a:solidFill>
        </p:spPr>
        <p:txBody>
          <a:bodyPr wrap="non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FROM BRAND TO SHELF</a:t>
            </a:r>
          </a:p>
        </p:txBody>
      </p:sp>
      <p:sp>
        <p:nvSpPr>
          <p:cNvPr id="3" name="TextBox 2"/>
          <p:cNvSpPr txBox="1"/>
          <p:nvPr/>
        </p:nvSpPr>
        <p:spPr>
          <a:xfrm>
            <a:off x="457200" y="749808"/>
            <a:ext cx="10972800" cy="320040"/>
          </a:xfrm>
          <a:prstGeom prst="rect">
            <a:avLst/>
          </a:prstGeom>
          <a:noFill/>
        </p:spPr>
        <p:txBody>
          <a:bodyPr wrap="square">
            <a:spAutoFit/>
          </a:bodyPr>
          <a:lstStyle/>
          <a:p>
            <a:pPr algn="l"/>
            <a:r>
              <a:rPr b="0" sz="1200">
                <a:solidFill>
                  <a:srgbClr val="000000"/>
                </a:solidFill>
              </a:rPr>
              <a:t>How the brand strategy translates to partnerships, brand identity, and consumer touchpoints.</a:t>
            </a:r>
          </a:p>
        </p:txBody>
      </p:sp>
      <p:sp>
        <p:nvSpPr>
          <p:cNvPr id="4" name="TextBox 3"/>
          <p:cNvSpPr txBox="1"/>
          <p:nvPr/>
        </p:nvSpPr>
        <p:spPr>
          <a:xfrm>
            <a:off x="365760" y="1143000"/>
            <a:ext cx="3566160" cy="347472"/>
          </a:xfrm>
          <a:prstGeom prst="rect">
            <a:avLst/>
          </a:prstGeom>
          <a:noFill/>
        </p:spPr>
        <p:txBody>
          <a:bodyPr wrap="square">
            <a:spAutoFit/>
          </a:bodyPr>
          <a:lstStyle/>
          <a:p>
            <a:pPr algn="l"/>
            <a:r>
              <a:rPr b="1" sz="1300">
                <a:solidFill>
                  <a:srgbClr val="00B0F0"/>
                </a:solidFill>
              </a:rPr>
              <a:t>BRAND IDENTITY</a:t>
            </a:r>
          </a:p>
        </p:txBody>
      </p:sp>
      <p:sp>
        <p:nvSpPr>
          <p:cNvPr id="5" name="TextBox 4"/>
          <p:cNvSpPr txBox="1"/>
          <p:nvPr/>
        </p:nvSpPr>
        <p:spPr>
          <a:xfrm>
            <a:off x="365760" y="1536192"/>
            <a:ext cx="3566160" cy="36576"/>
          </a:xfrm>
          <a:prstGeom prst="rect">
            <a:avLst/>
          </a:prstGeom>
          <a:solidFill>
            <a:srgbClr val="00B0F0"/>
          </a:solidFill>
        </p:spPr>
        <p:txBody>
          <a:bodyPr wrap="none">
            <a:spAutoFit/>
          </a:bodyPr>
          <a:lstStyle/>
          <a:p/>
        </p:txBody>
      </p:sp>
      <p:sp>
        <p:nvSpPr>
          <p:cNvPr id="6" name="TextBox 5"/>
          <p:cNvSpPr txBox="1"/>
          <p:nvPr/>
        </p:nvSpPr>
        <p:spPr>
          <a:xfrm>
            <a:off x="365760" y="1645920"/>
            <a:ext cx="3566160" cy="2286000"/>
          </a:xfrm>
          <a:prstGeom prst="rect">
            <a:avLst/>
          </a:prstGeom>
          <a:noFill/>
        </p:spPr>
        <p:txBody>
          <a:bodyPr wrap="square">
            <a:spAutoFit/>
          </a:bodyPr>
          <a:lstStyle/>
          <a:p>
            <a:pPr spc="100"/>
            <a:r>
              <a:rPr sz="1200">
                <a:solidFill>
                  <a:srgbClr val="000000"/>
                </a:solidFill>
              </a:rPr>
              <a:t>• FRE IS FOR THE ONES WHO STAY SHARP</a:t>
            </a:r>
          </a:p>
          <a:p>
            <a:pPr spc="100"/>
            <a:r>
              <a:rPr sz="1200">
                <a:solidFill>
                  <a:srgbClr val="000000"/>
                </a:solidFill>
              </a:rPr>
              <a:t>• This is the filter everything runs through</a:t>
            </a:r>
          </a:p>
        </p:txBody>
      </p:sp>
      <p:sp>
        <p:nvSpPr>
          <p:cNvPr id="7" name="TextBox 6"/>
          <p:cNvSpPr txBox="1"/>
          <p:nvPr/>
        </p:nvSpPr>
        <p:spPr>
          <a:xfrm>
            <a:off x="4251960" y="1143000"/>
            <a:ext cx="3566160" cy="347472"/>
          </a:xfrm>
          <a:prstGeom prst="rect">
            <a:avLst/>
          </a:prstGeom>
          <a:noFill/>
        </p:spPr>
        <p:txBody>
          <a:bodyPr wrap="square">
            <a:spAutoFit/>
          </a:bodyPr>
          <a:lstStyle/>
          <a:p>
            <a:pPr algn="l"/>
            <a:r>
              <a:rPr b="1" sz="1300">
                <a:solidFill>
                  <a:srgbClr val="00B0F0"/>
                </a:solidFill>
              </a:rPr>
              <a:t>BRAND PARTNERSHIPS</a:t>
            </a:r>
          </a:p>
        </p:txBody>
      </p:sp>
      <p:sp>
        <p:nvSpPr>
          <p:cNvPr id="8" name="TextBox 7"/>
          <p:cNvSpPr txBox="1"/>
          <p:nvPr/>
        </p:nvSpPr>
        <p:spPr>
          <a:xfrm>
            <a:off x="4251960" y="1536192"/>
            <a:ext cx="3566160" cy="36576"/>
          </a:xfrm>
          <a:prstGeom prst="rect">
            <a:avLst/>
          </a:prstGeom>
          <a:solidFill>
            <a:srgbClr val="00B0F0"/>
          </a:solidFill>
        </p:spPr>
        <p:txBody>
          <a:bodyPr wrap="none">
            <a:spAutoFit/>
          </a:bodyPr>
          <a:lstStyle/>
          <a:p/>
        </p:txBody>
      </p:sp>
      <p:sp>
        <p:nvSpPr>
          <p:cNvPr id="9" name="TextBox 8"/>
          <p:cNvSpPr txBox="1"/>
          <p:nvPr/>
        </p:nvSpPr>
        <p:spPr>
          <a:xfrm>
            <a:off x="4251960" y="1645920"/>
            <a:ext cx="3566160" cy="2286000"/>
          </a:xfrm>
          <a:prstGeom prst="rect">
            <a:avLst/>
          </a:prstGeom>
          <a:noFill/>
        </p:spPr>
        <p:txBody>
          <a:bodyPr wrap="square">
            <a:spAutoFit/>
          </a:bodyPr>
          <a:lstStyle/>
          <a:p>
            <a:pPr spc="100"/>
            <a:r>
              <a:rPr sz="1200">
                <a:solidFill>
                  <a:srgbClr val="000000"/>
                </a:solidFill>
              </a:rPr>
              <a:t>• UFC</a:t>
            </a:r>
          </a:p>
          <a:p>
            <a:pPr spc="100"/>
            <a:r>
              <a:rPr sz="1200">
                <a:solidFill>
                  <a:srgbClr val="000000"/>
                </a:solidFill>
              </a:rPr>
              <a:t>• 4th of July LTO</a:t>
            </a:r>
          </a:p>
          <a:p>
            <a:pPr spc="100"/>
            <a:r>
              <a:rPr sz="1200">
                <a:solidFill>
                  <a:srgbClr val="000000"/>
                </a:solidFill>
              </a:rPr>
              <a:t>• Peppermint LTO</a:t>
            </a:r>
          </a:p>
          <a:p>
            <a:pPr spc="100"/>
            <a:r>
              <a:rPr sz="1200">
                <a:solidFill>
                  <a:srgbClr val="000000"/>
                </a:solidFill>
              </a:rPr>
              <a:t>• If you have a partner or idea that fits — bring it</a:t>
            </a:r>
          </a:p>
        </p:txBody>
      </p:sp>
      <p:sp>
        <p:nvSpPr>
          <p:cNvPr id="10" name="TextBox 9"/>
          <p:cNvSpPr txBox="1"/>
          <p:nvPr/>
        </p:nvSpPr>
        <p:spPr>
          <a:xfrm>
            <a:off x="8138160" y="1143000"/>
            <a:ext cx="3566160" cy="347472"/>
          </a:xfrm>
          <a:prstGeom prst="rect">
            <a:avLst/>
          </a:prstGeom>
          <a:noFill/>
        </p:spPr>
        <p:txBody>
          <a:bodyPr wrap="square">
            <a:spAutoFit/>
          </a:bodyPr>
          <a:lstStyle/>
          <a:p>
            <a:pPr algn="l"/>
            <a:r>
              <a:rPr b="1" sz="1300">
                <a:solidFill>
                  <a:srgbClr val="00B0F0"/>
                </a:solidFill>
              </a:rPr>
              <a:t>RETAIL ACTIVATION</a:t>
            </a:r>
          </a:p>
        </p:txBody>
      </p:sp>
      <p:sp>
        <p:nvSpPr>
          <p:cNvPr id="11" name="TextBox 10"/>
          <p:cNvSpPr txBox="1"/>
          <p:nvPr/>
        </p:nvSpPr>
        <p:spPr>
          <a:xfrm>
            <a:off x="8138160" y="1536192"/>
            <a:ext cx="3566160" cy="36576"/>
          </a:xfrm>
          <a:prstGeom prst="rect">
            <a:avLst/>
          </a:prstGeom>
          <a:solidFill>
            <a:srgbClr val="00B0F0"/>
          </a:solidFill>
        </p:spPr>
        <p:txBody>
          <a:bodyPr wrap="none">
            <a:spAutoFit/>
          </a:bodyPr>
          <a:lstStyle/>
          <a:p/>
        </p:txBody>
      </p:sp>
      <p:sp>
        <p:nvSpPr>
          <p:cNvPr id="12" name="TextBox 11"/>
          <p:cNvSpPr txBox="1"/>
          <p:nvPr/>
        </p:nvSpPr>
        <p:spPr>
          <a:xfrm>
            <a:off x="8138160" y="1645920"/>
            <a:ext cx="3566160" cy="2286000"/>
          </a:xfrm>
          <a:prstGeom prst="rect">
            <a:avLst/>
          </a:prstGeom>
          <a:noFill/>
        </p:spPr>
        <p:txBody>
          <a:bodyPr wrap="square">
            <a:spAutoFit/>
          </a:bodyPr>
          <a:lstStyle/>
          <a:p>
            <a:pPr spc="100"/>
            <a:r>
              <a:rPr sz="1200">
                <a:solidFill>
                  <a:srgbClr val="000000"/>
                </a:solidFill>
              </a:rPr>
              <a:t>• Consumer touchpoints are critical for brand building</a:t>
            </a:r>
          </a:p>
          <a:p>
            <a:pPr spc="100"/>
            <a:r>
              <a:rPr sz="1200">
                <a:solidFill>
                  <a:srgbClr val="000000"/>
                </a:solidFill>
              </a:rPr>
              <a:t>• We're on the lookout for ways to activate at retail</a:t>
            </a:r>
          </a:p>
          <a:p>
            <a:pPr spc="100"/>
            <a:r>
              <a:rPr sz="1200">
                <a:solidFill>
                  <a:srgbClr val="000000"/>
                </a:solidFill>
              </a:rPr>
              <a:t>• You're in a good spot to find alignment between strategy and tactics</a:t>
            </a:r>
          </a:p>
        </p:txBody>
      </p:sp>
      <p:sp>
        <p:nvSpPr>
          <p:cNvPr id="13" name="TextBox 12"/>
          <p:cNvSpPr txBox="1"/>
          <p:nvPr/>
        </p:nvSpPr>
        <p:spPr>
          <a:xfrm>
            <a:off x="4041648" y="2148840"/>
            <a:ext cx="182880" cy="320040"/>
          </a:xfrm>
          <a:prstGeom prst="rect">
            <a:avLst/>
          </a:prstGeom>
          <a:noFill/>
        </p:spPr>
        <p:txBody>
          <a:bodyPr wrap="square">
            <a:spAutoFit/>
          </a:bodyPr>
          <a:lstStyle/>
          <a:p>
            <a:pPr algn="l"/>
            <a:r>
              <a:rPr b="1" sz="1400">
                <a:solidFill>
                  <a:srgbClr val="00B0F0"/>
                </a:solidFill>
              </a:rPr>
              <a:t>▶</a:t>
            </a:r>
          </a:p>
        </p:txBody>
      </p:sp>
      <p:sp>
        <p:nvSpPr>
          <p:cNvPr id="14" name="TextBox 13"/>
          <p:cNvSpPr txBox="1"/>
          <p:nvPr/>
        </p:nvSpPr>
        <p:spPr>
          <a:xfrm>
            <a:off x="7927848" y="2148840"/>
            <a:ext cx="182880" cy="320040"/>
          </a:xfrm>
          <a:prstGeom prst="rect">
            <a:avLst/>
          </a:prstGeom>
          <a:noFill/>
        </p:spPr>
        <p:txBody>
          <a:bodyPr wrap="square">
            <a:spAutoFit/>
          </a:bodyPr>
          <a:lstStyle/>
          <a:p>
            <a:pPr algn="l"/>
            <a:r>
              <a:rPr b="1" sz="1400">
                <a:solidFill>
                  <a:srgbClr val="00B0F0"/>
                </a:solidFill>
              </a:rPr>
              <a:t>▶</a:t>
            </a:r>
          </a:p>
        </p:txBody>
      </p:sp>
      <p:sp>
        <p:nvSpPr>
          <p:cNvPr id="15" name="TextBox 14"/>
          <p:cNvSpPr txBox="1"/>
          <p:nvPr/>
        </p:nvSpPr>
        <p:spPr>
          <a:xfrm>
            <a:off x="365760" y="4160520"/>
            <a:ext cx="11430000" cy="960120"/>
          </a:xfrm>
          <a:prstGeom prst="rect">
            <a:avLst/>
          </a:prstGeom>
          <a:solidFill>
            <a:srgbClr val="E2F5FD"/>
          </a:solidFill>
        </p:spPr>
        <p:txBody>
          <a:bodyPr wrap="square">
            <a:spAutoFit/>
          </a:bodyPr>
          <a:lstStyle/>
          <a:p>
            <a:r>
              <a:rPr b="1" sz="1100">
                <a:solidFill>
                  <a:srgbClr val="00B0F0"/>
                </a:solidFill>
              </a:rPr>
              <a:t>CUSTOM POS</a:t>
            </a:r>
          </a:p>
          <a:p>
            <a:r>
              <a:rPr sz="1100">
                <a:solidFill>
                  <a:srgbClr val="000000"/>
                </a:solidFill>
              </a:rPr>
              <a:t>Custom POS to leverage consumer awareness of and affinity for the brands we've partnered with. One way to improve FRE visibility at the point of purchase and increase credibility with retail and wholesale partners downstream.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FOCUS WHERE IT COUNTS</a:t>
            </a:r>
          </a:p>
        </p:txBody>
      </p:sp>
      <p:sp>
        <p:nvSpPr>
          <p:cNvPr id="3" name="TextBox 2"/>
          <p:cNvSpPr txBox="1"/>
          <p:nvPr/>
        </p:nvSpPr>
        <p:spPr>
          <a:xfrm>
            <a:off x="457200" y="749808"/>
            <a:ext cx="10972800" cy="347472"/>
          </a:xfrm>
          <a:prstGeom prst="rect">
            <a:avLst/>
          </a:prstGeom>
          <a:noFill/>
        </p:spPr>
        <p:txBody>
          <a:bodyPr wrap="square">
            <a:spAutoFit/>
          </a:bodyPr>
          <a:lstStyle/>
          <a:p>
            <a:pPr algn="l"/>
            <a:r>
              <a:rPr b="0" sz="1300">
                <a:solidFill>
                  <a:srgbClr val="000000"/>
                </a:solidFill>
              </a:rPr>
              <a:t>We need to be in more stores — but more important is to be in the stores that count. And to win there.</a:t>
            </a:r>
          </a:p>
        </p:txBody>
      </p:sp>
      <p:sp>
        <p:nvSpPr>
          <p:cNvPr id="4" name="TextBox 3"/>
          <p:cNvSpPr txBox="1"/>
          <p:nvPr/>
        </p:nvSpPr>
        <p:spPr>
          <a:xfrm>
            <a:off x="457200" y="1234440"/>
            <a:ext cx="5303520" cy="1051560"/>
          </a:xfrm>
          <a:prstGeom prst="rect">
            <a:avLst/>
          </a:prstGeom>
          <a:noFill/>
        </p:spPr>
        <p:txBody>
          <a:bodyPr wrap="square">
            <a:spAutoFit/>
          </a:bodyPr>
          <a:lstStyle/>
          <a:p>
            <a:pPr algn="ctr"/>
            <a:r>
              <a:rPr b="1" sz="9600">
                <a:solidFill>
                  <a:srgbClr val="00B0F0"/>
                </a:solidFill>
              </a:rPr>
              <a:t>10x</a:t>
            </a:r>
          </a:p>
        </p:txBody>
      </p:sp>
      <p:sp>
        <p:nvSpPr>
          <p:cNvPr id="5" name="TextBox 4"/>
          <p:cNvSpPr txBox="1"/>
          <p:nvPr/>
        </p:nvSpPr>
        <p:spPr>
          <a:xfrm>
            <a:off x="457200" y="2331720"/>
            <a:ext cx="5303520" cy="384048"/>
          </a:xfrm>
          <a:prstGeom prst="rect">
            <a:avLst/>
          </a:prstGeom>
          <a:noFill/>
        </p:spPr>
        <p:txBody>
          <a:bodyPr wrap="square">
            <a:spAutoFit/>
          </a:bodyPr>
          <a:lstStyle/>
          <a:p>
            <a:pPr algn="ctr"/>
            <a:r>
              <a:rPr b="1" sz="1400">
                <a:solidFill>
                  <a:srgbClr val="000000"/>
                </a:solidFill>
              </a:rPr>
              <a:t>A stores are 10x more valuable than E stores.</a:t>
            </a:r>
          </a:p>
        </p:txBody>
      </p:sp>
      <p:cxnSp>
        <p:nvCxnSpPr>
          <p:cNvPr id="6" name="Connector 5"/>
          <p:cNvCxnSpPr/>
          <p:nvPr/>
        </p:nvCxnSpPr>
        <p:spPr>
          <a:xfrm>
            <a:off x="5989320" y="1097280"/>
            <a:ext cx="0" cy="5120640"/>
          </a:xfrm>
          <a:prstGeom prst="line">
            <a:avLst/>
          </a:prstGeom>
          <a:ln w="12700">
            <a:solidFill>
              <a:srgbClr val="99999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09360" y="1097280"/>
            <a:ext cx="5394960" cy="347472"/>
          </a:xfrm>
          <a:prstGeom prst="rect">
            <a:avLst/>
          </a:prstGeom>
          <a:noFill/>
        </p:spPr>
        <p:txBody>
          <a:bodyPr wrap="square">
            <a:spAutoFit/>
          </a:bodyPr>
          <a:lstStyle/>
          <a:p>
            <a:pPr algn="l"/>
            <a:r>
              <a:rPr b="1" sz="1300">
                <a:solidFill>
                  <a:srgbClr val="00B0F0"/>
                </a:solidFill>
              </a:rPr>
              <a:t>STORE TIERS (by category CPW)</a:t>
            </a:r>
          </a:p>
        </p:txBody>
      </p:sp>
      <p:sp>
        <p:nvSpPr>
          <p:cNvPr id="8" name="TextBox 7"/>
          <p:cNvSpPr txBox="1"/>
          <p:nvPr/>
        </p:nvSpPr>
        <p:spPr>
          <a:xfrm>
            <a:off x="6309360" y="1554480"/>
            <a:ext cx="457200" cy="347472"/>
          </a:xfrm>
          <a:prstGeom prst="rect">
            <a:avLst/>
          </a:prstGeom>
          <a:noFill/>
        </p:spPr>
        <p:txBody>
          <a:bodyPr wrap="square">
            <a:spAutoFit/>
          </a:bodyPr>
          <a:lstStyle/>
          <a:p>
            <a:pPr algn="l"/>
            <a:r>
              <a:rPr b="1" sz="1500">
                <a:solidFill>
                  <a:srgbClr val="007000"/>
                </a:solidFill>
              </a:rPr>
              <a:t>A</a:t>
            </a:r>
          </a:p>
        </p:txBody>
      </p:sp>
      <p:sp>
        <p:nvSpPr>
          <p:cNvPr id="9" name="TextBox 8"/>
          <p:cNvSpPr txBox="1"/>
          <p:nvPr/>
        </p:nvSpPr>
        <p:spPr>
          <a:xfrm>
            <a:off x="6812280" y="1554480"/>
            <a:ext cx="914400" cy="347472"/>
          </a:xfrm>
          <a:prstGeom prst="rect">
            <a:avLst/>
          </a:prstGeom>
          <a:noFill/>
        </p:spPr>
        <p:txBody>
          <a:bodyPr wrap="square">
            <a:spAutoFit/>
          </a:bodyPr>
          <a:lstStyle/>
          <a:p>
            <a:pPr algn="l"/>
            <a:r>
              <a:rPr b="1" sz="1200">
                <a:solidFill>
                  <a:srgbClr val="007000"/>
                </a:solidFill>
              </a:rPr>
              <a:t>10x</a:t>
            </a:r>
          </a:p>
        </p:txBody>
      </p:sp>
      <p:sp>
        <p:nvSpPr>
          <p:cNvPr id="10" name="TextBox 9"/>
          <p:cNvSpPr txBox="1"/>
          <p:nvPr/>
        </p:nvSpPr>
        <p:spPr>
          <a:xfrm>
            <a:off x="7818120" y="1554480"/>
            <a:ext cx="3840480" cy="347472"/>
          </a:xfrm>
          <a:prstGeom prst="rect">
            <a:avLst/>
          </a:prstGeom>
          <a:noFill/>
        </p:spPr>
        <p:txBody>
          <a:bodyPr wrap="square">
            <a:spAutoFit/>
          </a:bodyPr>
          <a:lstStyle/>
          <a:p>
            <a:pPr algn="l"/>
            <a:r>
              <a:rPr b="0" sz="1200">
                <a:solidFill>
                  <a:srgbClr val="000000"/>
                </a:solidFill>
              </a:rPr>
              <a:t>Win here</a:t>
            </a:r>
          </a:p>
        </p:txBody>
      </p:sp>
      <p:sp>
        <p:nvSpPr>
          <p:cNvPr id="11" name="TextBox 10"/>
          <p:cNvSpPr txBox="1"/>
          <p:nvPr/>
        </p:nvSpPr>
        <p:spPr>
          <a:xfrm>
            <a:off x="6309360" y="1975104"/>
            <a:ext cx="457200" cy="347472"/>
          </a:xfrm>
          <a:prstGeom prst="rect">
            <a:avLst/>
          </a:prstGeom>
          <a:noFill/>
        </p:spPr>
        <p:txBody>
          <a:bodyPr wrap="square">
            <a:spAutoFit/>
          </a:bodyPr>
          <a:lstStyle/>
          <a:p>
            <a:pPr algn="l"/>
            <a:r>
              <a:rPr b="1" sz="1500">
                <a:solidFill>
                  <a:srgbClr val="007000"/>
                </a:solidFill>
              </a:rPr>
              <a:t>B</a:t>
            </a:r>
          </a:p>
        </p:txBody>
      </p:sp>
      <p:sp>
        <p:nvSpPr>
          <p:cNvPr id="12" name="TextBox 11"/>
          <p:cNvSpPr txBox="1"/>
          <p:nvPr/>
        </p:nvSpPr>
        <p:spPr>
          <a:xfrm>
            <a:off x="6812280" y="1975104"/>
            <a:ext cx="914400" cy="347472"/>
          </a:xfrm>
          <a:prstGeom prst="rect">
            <a:avLst/>
          </a:prstGeom>
          <a:noFill/>
        </p:spPr>
        <p:txBody>
          <a:bodyPr wrap="square">
            <a:spAutoFit/>
          </a:bodyPr>
          <a:lstStyle/>
          <a:p>
            <a:pPr algn="l"/>
            <a:r>
              <a:rPr b="1" sz="1200">
                <a:solidFill>
                  <a:srgbClr val="007000"/>
                </a:solidFill>
              </a:rPr>
              <a:t>7x</a:t>
            </a:r>
          </a:p>
        </p:txBody>
      </p:sp>
      <p:sp>
        <p:nvSpPr>
          <p:cNvPr id="13" name="TextBox 12"/>
          <p:cNvSpPr txBox="1"/>
          <p:nvPr/>
        </p:nvSpPr>
        <p:spPr>
          <a:xfrm>
            <a:off x="7818120" y="1975104"/>
            <a:ext cx="3840480" cy="347472"/>
          </a:xfrm>
          <a:prstGeom prst="rect">
            <a:avLst/>
          </a:prstGeom>
          <a:noFill/>
        </p:spPr>
        <p:txBody>
          <a:bodyPr wrap="square">
            <a:spAutoFit/>
          </a:bodyPr>
          <a:lstStyle/>
          <a:p>
            <a:pPr algn="l"/>
            <a:r>
              <a:rPr b="0" sz="1200">
                <a:solidFill>
                  <a:srgbClr val="000000"/>
                </a:solidFill>
              </a:rPr>
              <a:t>Build here</a:t>
            </a:r>
          </a:p>
        </p:txBody>
      </p:sp>
      <p:sp>
        <p:nvSpPr>
          <p:cNvPr id="14" name="TextBox 13"/>
          <p:cNvSpPr txBox="1"/>
          <p:nvPr/>
        </p:nvSpPr>
        <p:spPr>
          <a:xfrm>
            <a:off x="6309360" y="2395728"/>
            <a:ext cx="457200" cy="347472"/>
          </a:xfrm>
          <a:prstGeom prst="rect">
            <a:avLst/>
          </a:prstGeom>
          <a:noFill/>
        </p:spPr>
        <p:txBody>
          <a:bodyPr wrap="square">
            <a:spAutoFit/>
          </a:bodyPr>
          <a:lstStyle/>
          <a:p>
            <a:pPr algn="l"/>
            <a:r>
              <a:rPr b="1" sz="1500">
                <a:solidFill>
                  <a:srgbClr val="000000"/>
                </a:solidFill>
              </a:rPr>
              <a:t>C</a:t>
            </a:r>
          </a:p>
        </p:txBody>
      </p:sp>
      <p:sp>
        <p:nvSpPr>
          <p:cNvPr id="15" name="TextBox 14"/>
          <p:cNvSpPr txBox="1"/>
          <p:nvPr/>
        </p:nvSpPr>
        <p:spPr>
          <a:xfrm>
            <a:off x="6812280" y="2395728"/>
            <a:ext cx="914400" cy="347472"/>
          </a:xfrm>
          <a:prstGeom prst="rect">
            <a:avLst/>
          </a:prstGeom>
          <a:noFill/>
        </p:spPr>
        <p:txBody>
          <a:bodyPr wrap="square">
            <a:spAutoFit/>
          </a:bodyPr>
          <a:lstStyle/>
          <a:p>
            <a:pPr algn="l"/>
            <a:r>
              <a:rPr b="1" sz="1200">
                <a:solidFill>
                  <a:srgbClr val="000000"/>
                </a:solidFill>
              </a:rPr>
              <a:t>4x</a:t>
            </a:r>
          </a:p>
        </p:txBody>
      </p:sp>
      <p:sp>
        <p:nvSpPr>
          <p:cNvPr id="16" name="TextBox 15"/>
          <p:cNvSpPr txBox="1"/>
          <p:nvPr/>
        </p:nvSpPr>
        <p:spPr>
          <a:xfrm>
            <a:off x="7818120" y="2395728"/>
            <a:ext cx="3840480" cy="347472"/>
          </a:xfrm>
          <a:prstGeom prst="rect">
            <a:avLst/>
          </a:prstGeom>
          <a:noFill/>
        </p:spPr>
        <p:txBody>
          <a:bodyPr wrap="square">
            <a:spAutoFit/>
          </a:bodyPr>
          <a:lstStyle/>
          <a:p>
            <a:pPr algn="l"/>
            <a:r>
              <a:rPr b="0" sz="1200">
                <a:solidFill>
                  <a:srgbClr val="000000"/>
                </a:solidFill>
              </a:rPr>
              <a:t>Maintain</a:t>
            </a:r>
          </a:p>
        </p:txBody>
      </p:sp>
      <p:sp>
        <p:nvSpPr>
          <p:cNvPr id="17" name="TextBox 16"/>
          <p:cNvSpPr txBox="1"/>
          <p:nvPr/>
        </p:nvSpPr>
        <p:spPr>
          <a:xfrm>
            <a:off x="6309360" y="2816352"/>
            <a:ext cx="457200" cy="347472"/>
          </a:xfrm>
          <a:prstGeom prst="rect">
            <a:avLst/>
          </a:prstGeom>
          <a:noFill/>
        </p:spPr>
        <p:txBody>
          <a:bodyPr wrap="square">
            <a:spAutoFit/>
          </a:bodyPr>
          <a:lstStyle/>
          <a:p>
            <a:pPr algn="l"/>
            <a:r>
              <a:rPr b="1" sz="1500">
                <a:solidFill>
                  <a:srgbClr val="FF6600"/>
                </a:solidFill>
              </a:rPr>
              <a:t>D</a:t>
            </a:r>
          </a:p>
        </p:txBody>
      </p:sp>
      <p:sp>
        <p:nvSpPr>
          <p:cNvPr id="18" name="TextBox 17"/>
          <p:cNvSpPr txBox="1"/>
          <p:nvPr/>
        </p:nvSpPr>
        <p:spPr>
          <a:xfrm>
            <a:off x="6812280" y="2816352"/>
            <a:ext cx="914400" cy="347472"/>
          </a:xfrm>
          <a:prstGeom prst="rect">
            <a:avLst/>
          </a:prstGeom>
          <a:noFill/>
        </p:spPr>
        <p:txBody>
          <a:bodyPr wrap="square">
            <a:spAutoFit/>
          </a:bodyPr>
          <a:lstStyle/>
          <a:p>
            <a:pPr algn="l"/>
            <a:r>
              <a:rPr b="1" sz="1200">
                <a:solidFill>
                  <a:srgbClr val="FF6600"/>
                </a:solidFill>
              </a:rPr>
              <a:t>2x</a:t>
            </a:r>
          </a:p>
        </p:txBody>
      </p:sp>
      <p:sp>
        <p:nvSpPr>
          <p:cNvPr id="19" name="TextBox 18"/>
          <p:cNvSpPr txBox="1"/>
          <p:nvPr/>
        </p:nvSpPr>
        <p:spPr>
          <a:xfrm>
            <a:off x="7818120" y="2816352"/>
            <a:ext cx="3840480" cy="347472"/>
          </a:xfrm>
          <a:prstGeom prst="rect">
            <a:avLst/>
          </a:prstGeom>
          <a:noFill/>
        </p:spPr>
        <p:txBody>
          <a:bodyPr wrap="square">
            <a:spAutoFit/>
          </a:bodyPr>
          <a:lstStyle/>
          <a:p>
            <a:pPr algn="l"/>
            <a:r>
              <a:rPr b="0" sz="1200">
                <a:solidFill>
                  <a:srgbClr val="000000"/>
                </a:solidFill>
              </a:rPr>
              <a:t>Selective</a:t>
            </a:r>
          </a:p>
        </p:txBody>
      </p:sp>
      <p:sp>
        <p:nvSpPr>
          <p:cNvPr id="20" name="TextBox 19"/>
          <p:cNvSpPr txBox="1"/>
          <p:nvPr/>
        </p:nvSpPr>
        <p:spPr>
          <a:xfrm>
            <a:off x="6309360" y="3236976"/>
            <a:ext cx="457200" cy="347472"/>
          </a:xfrm>
          <a:prstGeom prst="rect">
            <a:avLst/>
          </a:prstGeom>
          <a:noFill/>
        </p:spPr>
        <p:txBody>
          <a:bodyPr wrap="square">
            <a:spAutoFit/>
          </a:bodyPr>
          <a:lstStyle/>
          <a:p>
            <a:pPr algn="l"/>
            <a:r>
              <a:rPr b="1" sz="1500">
                <a:solidFill>
                  <a:srgbClr val="CC0000"/>
                </a:solidFill>
              </a:rPr>
              <a:t>E</a:t>
            </a:r>
          </a:p>
        </p:txBody>
      </p:sp>
      <p:sp>
        <p:nvSpPr>
          <p:cNvPr id="21" name="TextBox 20"/>
          <p:cNvSpPr txBox="1"/>
          <p:nvPr/>
        </p:nvSpPr>
        <p:spPr>
          <a:xfrm>
            <a:off x="6812280" y="3236976"/>
            <a:ext cx="914400" cy="347472"/>
          </a:xfrm>
          <a:prstGeom prst="rect">
            <a:avLst/>
          </a:prstGeom>
          <a:noFill/>
        </p:spPr>
        <p:txBody>
          <a:bodyPr wrap="square">
            <a:spAutoFit/>
          </a:bodyPr>
          <a:lstStyle/>
          <a:p>
            <a:pPr algn="l"/>
            <a:r>
              <a:rPr b="1" sz="1200">
                <a:solidFill>
                  <a:srgbClr val="CC0000"/>
                </a:solidFill>
              </a:rPr>
              <a:t>1x</a:t>
            </a:r>
          </a:p>
        </p:txBody>
      </p:sp>
      <p:sp>
        <p:nvSpPr>
          <p:cNvPr id="22" name="TextBox 21"/>
          <p:cNvSpPr txBox="1"/>
          <p:nvPr/>
        </p:nvSpPr>
        <p:spPr>
          <a:xfrm>
            <a:off x="7818120" y="3236976"/>
            <a:ext cx="3840480" cy="347472"/>
          </a:xfrm>
          <a:prstGeom prst="rect">
            <a:avLst/>
          </a:prstGeom>
          <a:noFill/>
        </p:spPr>
        <p:txBody>
          <a:bodyPr wrap="square">
            <a:spAutoFit/>
          </a:bodyPr>
          <a:lstStyle/>
          <a:p>
            <a:pPr algn="l"/>
            <a:r>
              <a:rPr b="0" sz="1200">
                <a:solidFill>
                  <a:srgbClr val="000000"/>
                </a:solidFill>
              </a:rPr>
              <a:t>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00000"/>
                </a:solidFill>
              </a:rPr>
              <a:t>WHERE THE VOLUME IS — PUSH 6MG</a:t>
            </a:r>
          </a:p>
        </p:txBody>
      </p:sp>
      <p:sp>
        <p:nvSpPr>
          <p:cNvPr id="3" name="TextBox 2"/>
          <p:cNvSpPr txBox="1"/>
          <p:nvPr/>
        </p:nvSpPr>
        <p:spPr>
          <a:xfrm>
            <a:off x="457200" y="1097280"/>
            <a:ext cx="5303520" cy="347472"/>
          </a:xfrm>
          <a:prstGeom prst="rect">
            <a:avLst/>
          </a:prstGeom>
          <a:noFill/>
        </p:spPr>
        <p:txBody>
          <a:bodyPr wrap="square">
            <a:spAutoFit/>
          </a:bodyPr>
          <a:lstStyle/>
          <a:p>
            <a:pPr algn="l"/>
            <a:r>
              <a:rPr b="1" sz="1400">
                <a:solidFill>
                  <a:srgbClr val="00B0F0"/>
                </a:solidFill>
              </a:rPr>
              <a:t>THE PRIORITY</a:t>
            </a:r>
          </a:p>
        </p:txBody>
      </p:sp>
      <p:sp>
        <p:nvSpPr>
          <p:cNvPr id="4" name="TextBox 3"/>
          <p:cNvSpPr txBox="1"/>
          <p:nvPr/>
        </p:nvSpPr>
        <p:spPr>
          <a:xfrm>
            <a:off x="457200" y="1508760"/>
            <a:ext cx="5303520" cy="777240"/>
          </a:xfrm>
          <a:prstGeom prst="rect">
            <a:avLst/>
          </a:prstGeom>
          <a:noFill/>
        </p:spPr>
        <p:txBody>
          <a:bodyPr wrap="square">
            <a:spAutoFit/>
          </a:bodyPr>
          <a:lstStyle/>
          <a:p>
            <a:pPr spc="100"/>
            <a:r>
              <a:rPr sz="1400">
                <a:solidFill>
                  <a:srgbClr val="000000"/>
                </a:solidFill>
              </a:rPr>
              <a:t>• We need to push 6mg</a:t>
            </a:r>
          </a:p>
        </p:txBody>
      </p:sp>
      <p:sp>
        <p:nvSpPr>
          <p:cNvPr id="5" name="TextBox 4"/>
          <p:cNvSpPr txBox="1"/>
          <p:nvPr/>
        </p:nvSpPr>
        <p:spPr>
          <a:xfrm>
            <a:off x="457200" y="2468880"/>
            <a:ext cx="5303520" cy="347472"/>
          </a:xfrm>
          <a:prstGeom prst="rect">
            <a:avLst/>
          </a:prstGeom>
          <a:noFill/>
        </p:spPr>
        <p:txBody>
          <a:bodyPr wrap="square">
            <a:spAutoFit/>
          </a:bodyPr>
          <a:lstStyle/>
          <a:p>
            <a:pPr algn="l"/>
            <a:r>
              <a:rPr b="1" sz="1400">
                <a:solidFill>
                  <a:srgbClr val="00B0F0"/>
                </a:solidFill>
              </a:rPr>
              <a:t>HOW CAN WE HELP?</a:t>
            </a:r>
          </a:p>
        </p:txBody>
      </p:sp>
      <p:sp>
        <p:nvSpPr>
          <p:cNvPr id="6" name="TextBox 5"/>
          <p:cNvSpPr txBox="1"/>
          <p:nvPr/>
        </p:nvSpPr>
        <p:spPr>
          <a:xfrm>
            <a:off x="457200" y="2880360"/>
            <a:ext cx="5303520" cy="777240"/>
          </a:xfrm>
          <a:prstGeom prst="rect">
            <a:avLst/>
          </a:prstGeom>
          <a:noFill/>
        </p:spPr>
        <p:txBody>
          <a:bodyPr wrap="square">
            <a:spAutoFit/>
          </a:bodyPr>
          <a:lstStyle/>
          <a:p>
            <a:pPr spc="100"/>
            <a:r>
              <a:rPr sz="1300">
                <a:solidFill>
                  <a:srgbClr val="000000"/>
                </a:solidFill>
              </a:rPr>
              <a:t>• What do you need from us to move 6mg?</a:t>
            </a:r>
          </a:p>
        </p:txBody>
      </p:sp>
      <p:sp>
        <p:nvSpPr>
          <p:cNvPr id="7" name="TextBox 6"/>
          <p:cNvSpPr txBox="1"/>
          <p:nvPr/>
        </p:nvSpPr>
        <p:spPr>
          <a:xfrm>
            <a:off x="457200" y="3794760"/>
            <a:ext cx="5303520" cy="347472"/>
          </a:xfrm>
          <a:prstGeom prst="rect">
            <a:avLst/>
          </a:prstGeom>
          <a:noFill/>
        </p:spPr>
        <p:txBody>
          <a:bodyPr wrap="square">
            <a:spAutoFit/>
          </a:bodyPr>
          <a:lstStyle/>
          <a:p>
            <a:pPr algn="l"/>
            <a:r>
              <a:rPr b="1" sz="1400">
                <a:solidFill>
                  <a:srgbClr val="00B0F0"/>
                </a:solidFill>
              </a:rPr>
              <a:t>TRIAL GENERATION</a:t>
            </a:r>
          </a:p>
        </p:txBody>
      </p:sp>
      <p:sp>
        <p:nvSpPr>
          <p:cNvPr id="8" name="TextBox 7"/>
          <p:cNvSpPr txBox="1"/>
          <p:nvPr/>
        </p:nvSpPr>
        <p:spPr>
          <a:xfrm>
            <a:off x="457200" y="4206240"/>
            <a:ext cx="5303520" cy="777240"/>
          </a:xfrm>
          <a:prstGeom prst="rect">
            <a:avLst/>
          </a:prstGeom>
          <a:noFill/>
        </p:spPr>
        <p:txBody>
          <a:bodyPr wrap="square">
            <a:spAutoFit/>
          </a:bodyPr>
          <a:lstStyle/>
          <a:p>
            <a:pPr spc="100"/>
            <a:r>
              <a:rPr sz="1300">
                <a:solidFill>
                  <a:srgbClr val="000000"/>
                </a:solidFill>
              </a:rPr>
              <a:t>• How do we do this in a way that is supported by trial generation?</a:t>
            </a:r>
          </a:p>
        </p:txBody>
      </p:sp>
      <p:cxnSp>
        <p:nvCxnSpPr>
          <p:cNvPr id="9" name="Connector 8"/>
          <p:cNvCxnSpPr/>
          <p:nvPr/>
        </p:nvCxnSpPr>
        <p:spPr>
          <a:xfrm>
            <a:off x="5989320" y="1097280"/>
            <a:ext cx="0" cy="5120640"/>
          </a:xfrm>
          <a:prstGeom prst="line">
            <a:avLst/>
          </a:prstGeom>
          <a:ln w="12700">
            <a:solidFill>
              <a:srgbClr val="99999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09360" y="1097280"/>
            <a:ext cx="5394960" cy="347472"/>
          </a:xfrm>
          <a:prstGeom prst="rect">
            <a:avLst/>
          </a:prstGeom>
          <a:noFill/>
        </p:spPr>
        <p:txBody>
          <a:bodyPr wrap="square">
            <a:spAutoFit/>
          </a:bodyPr>
          <a:lstStyle/>
          <a:p>
            <a:pPr algn="l"/>
            <a:r>
              <a:rPr b="1" sz="1400">
                <a:solidFill>
                  <a:srgbClr val="00B0F0"/>
                </a:solidFill>
              </a:rPr>
              <a:t>THE APPROACH</a:t>
            </a:r>
          </a:p>
        </p:txBody>
      </p:sp>
      <p:sp>
        <p:nvSpPr>
          <p:cNvPr id="11" name="TextBox 10"/>
          <p:cNvSpPr txBox="1"/>
          <p:nvPr/>
        </p:nvSpPr>
        <p:spPr>
          <a:xfrm>
            <a:off x="6309360" y="1508760"/>
            <a:ext cx="5394960" cy="1371600"/>
          </a:xfrm>
          <a:prstGeom prst="rect">
            <a:avLst/>
          </a:prstGeom>
          <a:noFill/>
        </p:spPr>
        <p:txBody>
          <a:bodyPr wrap="square">
            <a:spAutoFit/>
          </a:bodyPr>
          <a:lstStyle/>
          <a:p>
            <a:pPr spc="100"/>
            <a:r>
              <a:rPr sz="1400">
                <a:solidFill>
                  <a:srgbClr val="000000"/>
                </a:solidFill>
              </a:rPr>
              <a:t>• Methodical and strategic</a:t>
            </a:r>
          </a:p>
          <a:p>
            <a:pPr spc="100"/>
            <a:r>
              <a:rPr sz="1400">
                <a:solidFill>
                  <a:srgbClr val="000000"/>
                </a:solidFill>
              </a:rPr>
              <a:t>• Focus on key accounts</a:t>
            </a:r>
          </a:p>
        </p:txBody>
      </p:sp>
    </p:spTree>
  </p:cSld>
  <p:clrMapOvr>
    <a:masterClrMapping/>
  </p:clrMapOvr>
</p:sld>
</file>

<file path=ppt/theme/theme1.xml><?xml version="1.0" encoding="utf-8"?>
<a:theme xmlns:a="http://schemas.openxmlformats.org/drawingml/2006/main" name="TPB_PP_Theme_TITL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2AE1A997-23B2-7244-B188-C644C43DAAC3}"/>
    </a:ext>
  </a:extLst>
</a:theme>
</file>

<file path=ppt/theme/theme2.xml><?xml version="1.0" encoding="utf-8"?>
<a:theme xmlns:a="http://schemas.openxmlformats.org/drawingml/2006/main" name="1_TPB_PP_Theme_Content Slid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Custom 1">
      <a:majorFont>
        <a:latin typeface="Helvetica Neue"/>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81867E77-5C1D-994F-8C16-857718B6CAB2}"/>
    </a:ext>
  </a:extLst>
</a:theme>
</file>

<file path=ppt/theme/theme3.xml><?xml version="1.0" encoding="utf-8"?>
<a:theme xmlns:a="http://schemas.openxmlformats.org/drawingml/2006/main" name="1_TPB_PP_Theme_Grouping Slide">
  <a:themeElements>
    <a:clrScheme name="Office Theme">
      <a:dk1>
        <a:srgbClr val="000000"/>
      </a:dk1>
      <a:lt1>
        <a:srgbClr val="FFFFFF"/>
      </a:lt1>
      <a:dk2>
        <a:srgbClr val="A7A7A7"/>
      </a:dk2>
      <a:lt2>
        <a:srgbClr val="535353"/>
      </a:lt2>
      <a:accent1>
        <a:srgbClr val="D8D8D8"/>
      </a:accent1>
      <a:accent2>
        <a:srgbClr val="A5A5A5"/>
      </a:accent2>
      <a:accent3>
        <a:srgbClr val="7F7F7F"/>
      </a:accent3>
      <a:accent4>
        <a:srgbClr val="00B0F0"/>
      </a:accent4>
      <a:accent5>
        <a:srgbClr val="262626"/>
      </a:accent5>
      <a:accent6>
        <a:srgbClr val="4747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PB_Corporate_Template" id="{78743B3D-166A-2C47-9958-CE2CFA746DBB}" vid="{F6CE499B-1942-F447-8BFE-D3712C1C190C}"/>
    </a:ext>
  </a:extLst>
</a:theme>
</file>

<file path=docProps/app.xml><?xml version="1.0" encoding="utf-8"?>
<Properties xmlns="http://schemas.openxmlformats.org/officeDocument/2006/extended-properties" xmlns:vt="http://schemas.openxmlformats.org/officeDocument/2006/docPropsVTypes">
  <Template/>
  <TotalTime>1810</TotalTime>
  <Words>18</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vt:i4>
      </vt:variant>
    </vt:vector>
  </HeadingPairs>
  <TitlesOfParts>
    <vt:vector size="14" baseType="lpstr">
      <vt:lpstr>Arial</vt:lpstr>
      <vt:lpstr>Calibri</vt:lpstr>
      <vt:lpstr>Calibri Light</vt:lpstr>
      <vt:lpstr>Helvetica</vt:lpstr>
      <vt:lpstr>Helvetica Neue</vt:lpstr>
      <vt:lpstr>Helvetica Neue Medium</vt:lpstr>
      <vt:lpstr>Poppins</vt:lpstr>
      <vt:lpstr>TPB_PP_Theme_TITLE</vt:lpstr>
      <vt:lpstr>1_TPB_PP_Theme_Content Slide</vt:lpstr>
      <vt:lpstr>1_TPB_PP_Theme_Grouping Slide</vt:lpstr>
      <vt:lpstr>PowerPoint Presentation</vt:lpstr>
      <vt:lpstr>xxx</vt:lpstr>
      <vt:lpstr>xxx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Hernandez</dc:creator>
  <cp:lastModifiedBy>Alexander Foster</cp:lastModifiedBy>
  <cp:revision>15</cp:revision>
  <dcterms:created xsi:type="dcterms:W3CDTF">2023-08-10T06:02:41Z</dcterms:created>
  <dcterms:modified xsi:type="dcterms:W3CDTF">2026-03-17T04:33:23Z</dcterms:modified>
</cp:coreProperties>
</file>