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  <p:sldMasterId id="2147483687" r:id="rId3"/>
  </p:sldMasterIdLst>
  <p:sldIdLst>
    <p:sldId id="256" r:id="rId7"/>
    <p:sldId id="257" r:id="rId6"/>
    <p:sldId id="258" r:id="rId5"/>
    <p:sldId id="259" r:id="rId4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C5AC2-BD92-429D-A74C-D27B4E0E72A8}" v="3" dt="2026-03-17T04:33:02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6667"/>
    <p:restoredTop sz="96327"/>
  </p:normalViewPr>
  <p:slideViewPr>
    <p:cSldViewPr snapToGrid="0">
      <p:cViewPr>
        <p:scale>
          <a:sx n="100" d="100"/>
          <a:sy n="100" d="100"/>
        </p:scale>
        <p:origin x="78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3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43629F-2DE2-051E-4125-1049812B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2" y="370553"/>
            <a:ext cx="10515600" cy="3165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1845259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76876A-756E-769F-1FF5-D663F31A4D8A}"/>
              </a:ext>
            </a:extLst>
          </p:cNvPr>
          <p:cNvSpPr/>
          <p:nvPr userDrawn="1"/>
        </p:nvSpPr>
        <p:spPr>
          <a:xfrm>
            <a:off x="-10202" y="6558110"/>
            <a:ext cx="12192000" cy="299890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Turning Point Brands Logo 1-01.png" descr="Turning Point Brands Logo 1-01.png">
            <a:extLst>
              <a:ext uri="{FF2B5EF4-FFF2-40B4-BE49-F238E27FC236}">
                <a16:creationId xmlns:a16="http://schemas.microsoft.com/office/drawing/2014/main" id="{15E073BE-E684-83CC-A979-85FA575B3F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0335" b="30335"/>
          <a:stretch>
            <a:fillRect/>
          </a:stretch>
        </p:blipFill>
        <p:spPr>
          <a:xfrm>
            <a:off x="3296542" y="791967"/>
            <a:ext cx="5598915" cy="220198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0">
            <a:extLst>
              <a:ext uri="{FF2B5EF4-FFF2-40B4-BE49-F238E27FC236}">
                <a16:creationId xmlns:a16="http://schemas.microsoft.com/office/drawing/2014/main" id="{EA11AF65-45D1-35B3-4812-1748D005BCDE}"/>
              </a:ext>
            </a:extLst>
          </p:cNvPr>
          <p:cNvSpPr txBox="1"/>
          <p:nvPr userDrawn="1"/>
        </p:nvSpPr>
        <p:spPr>
          <a:xfrm>
            <a:off x="1454898" y="653368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79FE7FA-A6EB-69D1-2CDA-7E9FDBB6E9C9}"/>
              </a:ext>
            </a:extLst>
          </p:cNvPr>
          <p:cNvSpPr txBox="1"/>
          <p:nvPr userDrawn="1"/>
        </p:nvSpPr>
        <p:spPr>
          <a:xfrm>
            <a:off x="291407" y="6598832"/>
            <a:ext cx="20614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</p:spTree>
    <p:extLst>
      <p:ext uri="{BB962C8B-B14F-4D97-AF65-F5344CB8AC3E}">
        <p14:creationId xmlns:p14="http://schemas.microsoft.com/office/powerpoint/2010/main" val="24327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019690D-BBEB-A894-5633-35FA498A700A}"/>
              </a:ext>
            </a:extLst>
          </p:cNvPr>
          <p:cNvSpPr/>
          <p:nvPr userDrawn="1"/>
        </p:nvSpPr>
        <p:spPr>
          <a:xfrm>
            <a:off x="1" y="6567676"/>
            <a:ext cx="12192000" cy="2903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Title 20">
            <a:extLst>
              <a:ext uri="{FF2B5EF4-FFF2-40B4-BE49-F238E27FC236}">
                <a16:creationId xmlns:a16="http://schemas.microsoft.com/office/drawing/2014/main" id="{A0830267-5F54-68D0-7739-01F3264F385C}"/>
              </a:ext>
            </a:extLst>
          </p:cNvPr>
          <p:cNvSpPr txBox="1"/>
          <p:nvPr userDrawn="1"/>
        </p:nvSpPr>
        <p:spPr>
          <a:xfrm>
            <a:off x="1454898" y="651463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A12FD36-4F64-7C8D-A792-3F61AFA48D8A}"/>
              </a:ext>
            </a:extLst>
          </p:cNvPr>
          <p:cNvSpPr txBox="1"/>
          <p:nvPr userDrawn="1"/>
        </p:nvSpPr>
        <p:spPr>
          <a:xfrm>
            <a:off x="275378" y="6598832"/>
            <a:ext cx="2382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  <p:pic>
        <p:nvPicPr>
          <p:cNvPr id="9" name="Turning Point Brands Logo.png" descr="Turning Point Brands Logo.png">
            <a:extLst>
              <a:ext uri="{FF2B5EF4-FFF2-40B4-BE49-F238E27FC236}">
                <a16:creationId xmlns:a16="http://schemas.microsoft.com/office/drawing/2014/main" id="{AA7828D1-385A-598D-FEA3-F4C68B6BA3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3544" y="267260"/>
            <a:ext cx="1131193" cy="388645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2AD4A0-1E8B-A237-136D-F6487A203716}"/>
              </a:ext>
            </a:extLst>
          </p:cNvPr>
          <p:cNvCxnSpPr>
            <a:cxnSpLocks/>
          </p:cNvCxnSpPr>
          <p:nvPr userDrawn="1"/>
        </p:nvCxnSpPr>
        <p:spPr>
          <a:xfrm flipV="1">
            <a:off x="457262" y="760104"/>
            <a:ext cx="11277475" cy="662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A85D06A-E24B-42D5-65DF-A46C1BEA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2" y="370553"/>
            <a:ext cx="10515600" cy="3165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305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4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4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Turning Point Brands Logo.png" descr="Turning Point Brands Logo.png">
            <a:extLst>
              <a:ext uri="{FF2B5EF4-FFF2-40B4-BE49-F238E27FC236}">
                <a16:creationId xmlns:a16="http://schemas.microsoft.com/office/drawing/2014/main" id="{CB7FD011-EF67-8E04-BFA2-1C27325D5B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3544" y="267260"/>
            <a:ext cx="1131193" cy="38864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F8984D2-B12B-270B-687D-0B2FEA28D5A8}"/>
              </a:ext>
            </a:extLst>
          </p:cNvPr>
          <p:cNvGrpSpPr/>
          <p:nvPr userDrawn="1"/>
        </p:nvGrpSpPr>
        <p:grpSpPr>
          <a:xfrm>
            <a:off x="12014825" y="1862280"/>
            <a:ext cx="215442" cy="3133440"/>
            <a:chOff x="12014825" y="1862280"/>
            <a:chExt cx="215442" cy="313344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66C67E-01C1-6AD9-5C35-3D0774EC1A46}"/>
                </a:ext>
              </a:extLst>
            </p:cNvPr>
            <p:cNvSpPr/>
            <p:nvPr userDrawn="1"/>
          </p:nvSpPr>
          <p:spPr>
            <a:xfrm>
              <a:off x="12045142" y="1862280"/>
              <a:ext cx="146858" cy="3133440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2E5C0F-811B-A72E-430D-9DE0D7650349}"/>
                </a:ext>
              </a:extLst>
            </p:cNvPr>
            <p:cNvSpPr txBox="1"/>
            <p:nvPr userDrawn="1"/>
          </p:nvSpPr>
          <p:spPr>
            <a:xfrm rot="5400000">
              <a:off x="11274077" y="3321278"/>
              <a:ext cx="1696937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  <a:sym typeface="Calibri"/>
                </a:rPr>
                <a:t>Turning Point Brands (NYSE: TPB)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BB96CB7-90D9-C3AB-907A-931BF87B47AF}"/>
              </a:ext>
            </a:extLst>
          </p:cNvPr>
          <p:cNvSpPr/>
          <p:nvPr userDrawn="1"/>
        </p:nvSpPr>
        <p:spPr>
          <a:xfrm>
            <a:off x="1" y="6567676"/>
            <a:ext cx="12192000" cy="2903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D0F8E446-B29A-A488-B699-4DFAFFF022DD}"/>
              </a:ext>
            </a:extLst>
          </p:cNvPr>
          <p:cNvSpPr txBox="1"/>
          <p:nvPr userDrawn="1"/>
        </p:nvSpPr>
        <p:spPr>
          <a:xfrm>
            <a:off x="1454898" y="651463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397C638-878E-05E6-164D-C0FDC33F0825}"/>
              </a:ext>
            </a:extLst>
          </p:cNvPr>
          <p:cNvSpPr txBox="1"/>
          <p:nvPr userDrawn="1"/>
        </p:nvSpPr>
        <p:spPr>
          <a:xfrm>
            <a:off x="275378" y="6598832"/>
            <a:ext cx="2382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</p:spTree>
    <p:extLst>
      <p:ext uri="{BB962C8B-B14F-4D97-AF65-F5344CB8AC3E}">
        <p14:creationId xmlns:p14="http://schemas.microsoft.com/office/powerpoint/2010/main" val="2255105550"/>
      </p:ext>
    </p:extLst>
  </p:cSld>
  <p:clrMap bg1="lt1" tx1="dk1" bg2="lt2" tx2="dk2" accent1="accent1" accent2="accent2" accent3="accent3" accent4="accent4" accent5="accent5" accent6="accent6" hlink="hlink" folHlink="folHlink"/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403000000020004" pitchFamily="2"/>
          <a:ea typeface="Helvetica Neue" panose="02000403000000020004" pitchFamily="2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00B0F0"/>
                </a:solidFill>
              </a:rPr>
              <a:t>FRE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The Art of the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00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600">
                <a:solidFill>
                  <a:srgbClr val="FFFFFF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THE STRATEGIC UNLOCK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PERMISSION TO MOVE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600">
                <a:solidFill>
                  <a:srgbClr val="000000"/>
                </a:solidFill>
              </a:rPr>
              <a:t>• Net new flavor development through FDA requires 18+ months and significant capital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FRE LABS creates a parallel track: license, white-label, and test without touching the regulatory pipeline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New flavors, new packaging, new product experiences — all under a sub-brand that absorbs creative risk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If a LABS experiment works, graduate it to core FRE. If not, clean exit — zero brand dilution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FRE LABS gives the brand permission to play offense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C0C0"/>
                </a:solidFill>
              </a:rPr>
              <a:t>Source: Internal FRE brand strategy,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NEW TERRITORY, NEW CONSUMERS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600">
                <a:solidFill>
                  <a:srgbClr val="000000"/>
                </a:solidFill>
              </a:rPr>
              <a:t>• Core FRE owns mint, wintergreen, and high-strength — the performance consumer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LABS opens flavor-forward territory: fruit, citrus, dessert, coffee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Lower strength options (3mg, 4mg) create entry points for consumers who self-select out of core FRE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Expands the addressable market without repositioning the master brand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Different flavors attract different segments — a wider net for the FRE ecosystem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THE CREATIVE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600">
                <a:solidFill>
                  <a:srgbClr val="000000"/>
                </a:solidFill>
              </a:rPr>
              <a:t>• New packaging concepts and limited-edition design language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Collab cans with athletes, artists, brands — 500–1,000 unit runs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Visual experimentation that would be too risky under core FRE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Test concepts in market before committing to full production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The sub-brand is the buffer — LABS absorbs all experimentation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THREE COMPANIES. THREE PROVEN MECHANICS.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THE PLAYBOOK ALREADY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JONES SODA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Community-submitted labels and flavor voting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Consumers owned the brand — the vote was the marketing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Mystery flavors drove repeat purchase and social sharing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Cult following in a commodity category with near-zero ad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LIQUID DEATH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Lifestyle brand in the most commodity category (water)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Artist collabs — every drop is a content event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Irreverent limited editions create FOMO and earned media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The can IS the ad — design replaced their media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RED BULL EDITIONS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Sub-brand attracts non-Red Bull consumers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Doesn't compete with parent — fishes in different ponds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Graduates new users to core SKU over time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Editions absorb experimentation risk for the master brand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WHAT'S ALREADY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THIS ISN'T THEORETICAL.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LUCY PARTNERSHIP — LOCKED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White-label agreement with Lucy — a quality DTC nicotine pouch brand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3 flavors: Cinnamon, Mango, Espresso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2 strengths: 4mg and 8mg — 6 new SKUs ready to sell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Online-only distribution under FRE Flavor Labs branding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Quality product from a brand we believe in</a:t>
            </a:r>
          </a:p>
        </p:txBody>
      </p:sp>
      <p:pic>
        <p:nvPicPr>
          <p:cNvPr id="4" name="Picture 3" descr="Lucy_Cinnamon_4mg.web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05840"/>
            <a:ext cx="3017520" cy="2194560"/>
          </a:xfrm>
          <a:prstGeom prst="rect">
            <a:avLst/>
          </a:prstGeom>
        </p:spPr>
      </p:pic>
      <p:pic>
        <p:nvPicPr>
          <p:cNvPr id="5" name="Picture 4" descr="Lucy_Mango_4mg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005840"/>
            <a:ext cx="3017520" cy="2194560"/>
          </a:xfrm>
          <a:prstGeom prst="rect">
            <a:avLst/>
          </a:prstGeom>
        </p:spPr>
      </p:pic>
      <p:pic>
        <p:nvPicPr>
          <p:cNvPr id="6" name="Picture 5" descr="Lucy_Espresso_4mg.web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383280"/>
            <a:ext cx="301752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40" y="58521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C0C0C0"/>
                </a:solidFill>
              </a:rPr>
              <a:t>Lucy Nicotine Pouches — partnership secured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CAFFEINE POUCHES — WIDE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DENISSI partnership opens a standalone caffeine pouch category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European manufacturer with Dallas TX operations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Competitive landscape mapped: Grinds is the benchmark (9K+/mo Amazon)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TeaZa has brand recognition but limited retail distribution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Nobody with real retail muscle has executed well in this space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Massive whitespace for a well-resourced entrant</a:t>
            </a:r>
          </a:p>
        </p:txBody>
      </p:sp>
      <p:pic>
        <p:nvPicPr>
          <p:cNvPr id="4" name="Picture 3" descr="Denssi_SouthernBoo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05840"/>
            <a:ext cx="3017520" cy="2194560"/>
          </a:xfrm>
          <a:prstGeom prst="rect">
            <a:avLst/>
          </a:prstGeom>
        </p:spPr>
      </p:pic>
      <p:pic>
        <p:nvPicPr>
          <p:cNvPr id="5" name="Picture 4" descr="Denssi_ValhallaWi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005840"/>
            <a:ext cx="3017520" cy="2194560"/>
          </a:xfrm>
          <a:prstGeom prst="rect">
            <a:avLst/>
          </a:prstGeom>
        </p:spPr>
      </p:pic>
      <p:pic>
        <p:nvPicPr>
          <p:cNvPr id="6" name="Picture 5" descr="Denssi_TropicalFu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383280"/>
            <a:ext cx="3017520" cy="2194560"/>
          </a:xfrm>
          <a:prstGeom prst="rect">
            <a:avLst/>
          </a:prstGeom>
        </p:spPr>
      </p:pic>
      <p:pic>
        <p:nvPicPr>
          <p:cNvPr id="7" name="Picture 6" descr="Denssi_Lineu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383280"/>
            <a:ext cx="301752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58521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C0C0C0"/>
                </a:solidFill>
              </a:rPr>
              <a:t>DENISSI Energy Pouches — partnership secured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THE GROWTH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WHERE WE WANT YOUR THINKING.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STARTER SPARKS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CONSUMER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Flavor voting — zero-cost market research that markets itself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Custom packaging / co-creation — ownership drives loyalty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Mystery drops — repeat purchase + social sharing mechanics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QR-first can design — first-party data capture on every unit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Early access tiers — scarcity creates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GROWTH LEVERS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Every LABS can is a consumer acquisition tool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QR scan = data point = funnel entry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Versioning creates an always-on content calendar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Collab partnerships generate earned media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FRE Rewards integration locks in lifetime value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400">
                <a:solidFill>
                  <a:srgbClr val="00B0F0"/>
                </a:solidFill>
              </a:rPr>
              <a:t>WHAT WOULD YOU BUILD?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The platform exists. The permissions are real. The product is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PB_PP_Theme_TITL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2AE1A997-23B2-7244-B188-C644C43DAAC3}"/>
    </a:ext>
  </a:extLst>
</a:theme>
</file>

<file path=ppt/theme/theme2.xml><?xml version="1.0" encoding="utf-8"?>
<a:theme xmlns:a="http://schemas.openxmlformats.org/drawingml/2006/main" name="1_TPB_PP_Theme_Content Slid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Custom 1">
      <a:majorFont>
        <a:latin typeface="Helvetica Neue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81867E77-5C1D-994F-8C16-857718B6CAB2}"/>
    </a:ext>
  </a:extLst>
</a:theme>
</file>

<file path=ppt/theme/theme3.xml><?xml version="1.0" encoding="utf-8"?>
<a:theme xmlns:a="http://schemas.openxmlformats.org/drawingml/2006/main" name="1_TPB_PP_Theme_Grouping Slid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F6CE499B-1942-F447-8BFE-D3712C1C19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1810</TotalTime>
  <Words>18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Helvetica Neue</vt:lpstr>
      <vt:lpstr>Helvetica Neue Medium</vt:lpstr>
      <vt:lpstr>Poppins</vt:lpstr>
      <vt:lpstr>TPB_PP_Theme_TITLE</vt:lpstr>
      <vt:lpstr>1_TPB_PP_Theme_Content Slide</vt:lpstr>
      <vt:lpstr>1_TPB_PP_Theme_Grouping Slide</vt:lpstr>
      <vt:lpstr>PowerPoint Presentation</vt:lpstr>
      <vt:lpstr>xxx</vt:lpstr>
      <vt:lpstr>xxx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Hernandez</dc:creator>
  <cp:lastModifiedBy>Alexander Foster</cp:lastModifiedBy>
  <cp:revision>15</cp:revision>
  <dcterms:created xsi:type="dcterms:W3CDTF">2023-08-10T06:02:41Z</dcterms:created>
  <dcterms:modified xsi:type="dcterms:W3CDTF">2026-03-17T04:33:23Z</dcterms:modified>
</cp:coreProperties>
</file>