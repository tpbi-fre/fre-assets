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  <p:sldMasterId id="2147483687" r:id="rId3"/>
  </p:sldMasterIdLst>
  <p:sldIdLst>
    <p:sldId id="256" r:id="rId7"/>
    <p:sldId id="257" r:id="rId6"/>
    <p:sldId id="258" r:id="rId5"/>
    <p:sldId id="259" r:id="rId4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5AC2-BD92-429D-A74C-D27B4E0E72A8}" v="3" dt="2026-03-17T04:33:02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667"/>
    <p:restoredTop sz="96327"/>
  </p:normalViewPr>
  <p:slideViewPr>
    <p:cSldViewPr snapToGrid="0">
      <p:cViewPr>
        <p:scale>
          <a:sx n="100" d="100"/>
          <a:sy n="100" d="100"/>
        </p:scale>
        <p:origin x="7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3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43629F-2DE2-051E-4125-1049812B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45259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76876A-756E-769F-1FF5-D663F31A4D8A}"/>
              </a:ext>
            </a:extLst>
          </p:cNvPr>
          <p:cNvSpPr/>
          <p:nvPr userDrawn="1"/>
        </p:nvSpPr>
        <p:spPr>
          <a:xfrm>
            <a:off x="-10202" y="6558110"/>
            <a:ext cx="12192000" cy="299890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Turning Point Brands Logo 1-01.png" descr="Turning Point Brands Logo 1-01.png">
            <a:extLst>
              <a:ext uri="{FF2B5EF4-FFF2-40B4-BE49-F238E27FC236}">
                <a16:creationId xmlns:a16="http://schemas.microsoft.com/office/drawing/2014/main" id="{15E073BE-E684-83CC-A979-85FA575B3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30335" b="30335"/>
          <a:stretch>
            <a:fillRect/>
          </a:stretch>
        </p:blipFill>
        <p:spPr>
          <a:xfrm>
            <a:off x="3296542" y="791967"/>
            <a:ext cx="5598915" cy="220198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0">
            <a:extLst>
              <a:ext uri="{FF2B5EF4-FFF2-40B4-BE49-F238E27FC236}">
                <a16:creationId xmlns:a16="http://schemas.microsoft.com/office/drawing/2014/main" id="{EA11AF65-45D1-35B3-4812-1748D005BCDE}"/>
              </a:ext>
            </a:extLst>
          </p:cNvPr>
          <p:cNvSpPr txBox="1"/>
          <p:nvPr userDrawn="1"/>
        </p:nvSpPr>
        <p:spPr>
          <a:xfrm>
            <a:off x="1454898" y="653368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79FE7FA-A6EB-69D1-2CDA-7E9FDBB6E9C9}"/>
              </a:ext>
            </a:extLst>
          </p:cNvPr>
          <p:cNvSpPr txBox="1"/>
          <p:nvPr userDrawn="1"/>
        </p:nvSpPr>
        <p:spPr>
          <a:xfrm>
            <a:off x="291407" y="6598832"/>
            <a:ext cx="20614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4327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019690D-BBEB-A894-5633-35FA498A700A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Title 20">
            <a:extLst>
              <a:ext uri="{FF2B5EF4-FFF2-40B4-BE49-F238E27FC236}">
                <a16:creationId xmlns:a16="http://schemas.microsoft.com/office/drawing/2014/main" id="{A0830267-5F54-68D0-7739-01F3264F385C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12FD36-4F64-7C8D-A792-3F61AFA48D8A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  <p:pic>
        <p:nvPicPr>
          <p:cNvPr id="9" name="Turning Point Brands Logo.png" descr="Turning Point Brands Logo.png">
            <a:extLst>
              <a:ext uri="{FF2B5EF4-FFF2-40B4-BE49-F238E27FC236}">
                <a16:creationId xmlns:a16="http://schemas.microsoft.com/office/drawing/2014/main" id="{AA7828D1-385A-598D-FEA3-F4C68B6BA3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2AD4A0-1E8B-A237-136D-F6487A203716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62" y="760104"/>
            <a:ext cx="11277475" cy="662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A85D06A-E24B-42D5-65DF-A46C1BEA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62" y="370553"/>
            <a:ext cx="10515600" cy="3165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305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400" b="0" i="0" u="none" strike="noStrike" cap="none" spc="0" baseline="0">
          <a:ln>
            <a:noFill/>
          </a:ln>
          <a:solidFill>
            <a:schemeClr val="tx1">
              <a:lumMod val="85000"/>
              <a:lumOff val="15000"/>
            </a:schemeClr>
          </a:solidFill>
          <a:uFillTx/>
          <a:latin typeface="Helvetica" pitchFamily="2" charset="0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Turning Point Brands Logo.png" descr="Turning Point Brands Logo.png">
            <a:extLst>
              <a:ext uri="{FF2B5EF4-FFF2-40B4-BE49-F238E27FC236}">
                <a16:creationId xmlns:a16="http://schemas.microsoft.com/office/drawing/2014/main" id="{CB7FD011-EF67-8E04-BFA2-1C27325D5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3544" y="267260"/>
            <a:ext cx="1131193" cy="3886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F8984D2-B12B-270B-687D-0B2FEA28D5A8}"/>
              </a:ext>
            </a:extLst>
          </p:cNvPr>
          <p:cNvGrpSpPr/>
          <p:nvPr userDrawn="1"/>
        </p:nvGrpSpPr>
        <p:grpSpPr>
          <a:xfrm>
            <a:off x="12014825" y="1862280"/>
            <a:ext cx="215442" cy="3133440"/>
            <a:chOff x="12014825" y="1862280"/>
            <a:chExt cx="215442" cy="313344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66C67E-01C1-6AD9-5C35-3D0774EC1A46}"/>
                </a:ext>
              </a:extLst>
            </p:cNvPr>
            <p:cNvSpPr/>
            <p:nvPr userDrawn="1"/>
          </p:nvSpPr>
          <p:spPr>
            <a:xfrm>
              <a:off x="12045142" y="1862280"/>
              <a:ext cx="146858" cy="3133440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2E5C0F-811B-A72E-430D-9DE0D7650349}"/>
                </a:ext>
              </a:extLst>
            </p:cNvPr>
            <p:cNvSpPr txBox="1"/>
            <p:nvPr userDrawn="1"/>
          </p:nvSpPr>
          <p:spPr>
            <a:xfrm rot="5400000">
              <a:off x="11274077" y="3321278"/>
              <a:ext cx="1696937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  <a:sym typeface="Calibri"/>
                </a:rPr>
                <a:t>Turning Point Brands (NYSE: TPB)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BB96CB7-90D9-C3AB-907A-931BF87B47AF}"/>
              </a:ext>
            </a:extLst>
          </p:cNvPr>
          <p:cNvSpPr/>
          <p:nvPr userDrawn="1"/>
        </p:nvSpPr>
        <p:spPr>
          <a:xfrm>
            <a:off x="1" y="6567676"/>
            <a:ext cx="12192000" cy="290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D0F8E446-B29A-A488-B699-4DFAFFF022DD}"/>
              </a:ext>
            </a:extLst>
          </p:cNvPr>
          <p:cNvSpPr txBox="1"/>
          <p:nvPr userDrawn="1"/>
        </p:nvSpPr>
        <p:spPr>
          <a:xfrm>
            <a:off x="1454898" y="6514637"/>
            <a:ext cx="9261800" cy="353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926" tIns="121926" rIns="121926" bIns="121926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 spc="300">
                <a:latin typeface="Poppins"/>
                <a:ea typeface="Poppins"/>
                <a:cs typeface="Poppins"/>
                <a:sym typeface="Poppins"/>
              </a:defRPr>
            </a:pPr>
            <a:r>
              <a:rPr kumimoji="0" lang="en-US" sz="600" b="1" i="0" u="none" strike="noStrike" kern="0" cap="none" spc="3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Poppins"/>
              </a:rPr>
              <a:t>|  NYSE: TPB  |  5201 INTERCHANGE WAY, LOUISVILLE KY  |  TURNINGPOINTBRANDS.COM  |</a:t>
            </a:r>
            <a:endParaRPr kumimoji="0" sz="600" b="1" i="0" u="none" strike="noStrike" kern="0" cap="none" spc="3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Poppi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397C638-878E-05E6-164D-C0FDC33F0825}"/>
              </a:ext>
            </a:extLst>
          </p:cNvPr>
          <p:cNvSpPr txBox="1"/>
          <p:nvPr userDrawn="1"/>
        </p:nvSpPr>
        <p:spPr>
          <a:xfrm>
            <a:off x="275378" y="6598832"/>
            <a:ext cx="2382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88888"/>
                </a:solidFill>
              </a:defRPr>
            </a:pPr>
            <a:fld id="{86CB4B4D-7CA3-9044-876B-883B54F8677D}" type="slidenum">
              <a:rPr kumimoji="0" sz="6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888888"/>
                  </a:solidFill>
                </a:defRPr>
              </a:pPr>
              <a:t>‹#›</a:t>
            </a:fld>
            <a:r>
              <a:rPr kumimoji="0" sz="600" b="0" i="0" u="none" strike="noStrike" kern="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Calibri"/>
              </a:rPr>
              <a:t>￼</a:t>
            </a:r>
          </a:p>
        </p:txBody>
      </p:sp>
    </p:spTree>
    <p:extLst>
      <p:ext uri="{BB962C8B-B14F-4D97-AF65-F5344CB8AC3E}">
        <p14:creationId xmlns:p14="http://schemas.microsoft.com/office/powerpoint/2010/main" val="2255105550"/>
      </p:ext>
    </p:extLst>
  </p:cSld>
  <p:clrMap bg1="lt1" tx1="dk1" bg2="lt2" tx2="dk2" accent1="accent1" accent2="accent2" accent3="accent3" accent4="accent4" accent5="accent5" accent6="accent6" hlink="hlink" folHlink="folHlink"/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403000000020004" pitchFamily="2"/>
          <a:ea typeface="Helvetica Neue" panose="02000403000000020004" pitchFamily="2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00B0F0"/>
                </a:solidFill>
              </a:rPr>
              <a:t>FRE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Innovation Platform · Stage Gate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FFFFFF"/>
                </a:solidFill>
              </a:rPr>
              <a:t>April 2026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FRE LABS — NOT A PRODUCT. A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🧪 Consumer Engagement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Consumers influence where the brand goes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Voting, polls, early access — real participation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🛡️ Brand Protection Layer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Innovation sandbox — test without risking core equity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FRE Labs branding = permission to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🏰 Competitive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Competitors copy products, not platforms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Data flywheel deepens advantage every cycle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🚀 Innovation Pipeline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Test → learn → scale. Transcends individual SKUs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Three product pillars + one consumer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FOUR RULES THAT PROTECT THE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1. DIFFERENT, NOT BETTER — Labs can't cannibalize core FRE. Different flavor profiles, different packaging, different consumer occasion.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2. LTO MODEL (NOTHING &gt; 1 YEAR) — Every Labs SKU rotates. Scarcity creates demand. Permanence kills the lab mentality.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3. STRENGTH IS THE THREAD — Every Labs product reinforces FRE's core positioning. The nicotine experience remains best-in-class.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4. PACKAGING = PERMISSION — Core FRE packaging is untouchable. 'FRE Labs' branding = license to experiment with design, color,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These guardrails are codified in the FRE Labs strategy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THREE PRODUCT PILLARS UNDER FRE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🔵 STREAMLINE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White-label partnership with Juice Head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5 flavors — terms locked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$1.30/can COGS (incl. sea freight)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MOQ: 10K/SKU · 100K/order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Status: Production samples in review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Timeline: ORDER-READY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→ Fastest path to new FRE Labs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🟣 THE LUCY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Spirits/cocktail-themed LTOs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"The Poolside Collection"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3 Lucy source flavors → cocktail names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Premium, experiential, social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Status: Flavor mapping + naming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Timeline: 2-3 MONTHS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→ Brand-forward creative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🟠 BEYOND NICOTINE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Caffeine → Nootropics → TBD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ALP validated: $1.34M, 69.9% margin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Dallas eval: April 7 (DENISSI vs. Teaza)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$500K–$1M / 12 months (conservative)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Status: Demand proven, PMF + branding TBD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Timeline: 6-12 MONTHS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→ Long-term category expansion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PILLAR 1: STREAMLINE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NEAR-TERM REVENUE · WHITE-LABEL PARTNERSHIP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STREAMLINE (JUICE HEAD) — 5 FLAVORS, TERMS LOCKED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Deal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COGS: $1.30/can (incl. sea freight)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Volume pricing: $1.20/can at 500K+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Payment: 50% down / 50% pre-ship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MOQ: 10K per SKU · 100K per order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Tariffs billed separately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Contact: Patrick Mulcahy (CEO Streamline)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patrick@streamlinevape.com · (714) 823-3750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Die lines: Matt Halvorson / Neemo Tawasha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5 SKUs — Naming Decision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Peach Pineapple → Peach Ice / Sub Zero Peach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Blueberry Lemon → Blueberry Ice / Sub Zero Blueberry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Raspberry Lemonade → Pink Lemonade Ice / Sub Zero Raspberry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Watermelon Strawberry → Strawberry Ice / Sub Zero Strawberry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Mango Strawberry → Tropical Ice / Sub Zero Mango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Decision: "Ice" convention vs. "Sub Zero" convention?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Alp Drifters JH (finalized): Island Peach, Blueberry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Lemonade Ice, Lemon Raspberry, Watermelon Kiwi Ice,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Mango Freeze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STREAMLINE ECONOMICS — WHAT 5 SKUS LOOK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                           CONSERVATIVE        BASE              AGGRESSIVE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Doors (Year 1)              5,000              10,000             20,000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Units/store/month           3                  5                  8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Annual Units                180,000            600,000            960,000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Revenue (@$4.99)            $898K              $2.99M             $4.79M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COGS (@$1.30)               $234K              $780K              $1.25M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Gross Profit                $664K              $2.21M             $3.54M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Gross Margin                73.9%              73.9%              73.9%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Even the conservative case delivers ~$665K gross profit Year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Revenue model: ASP $4.99/can. COGS $1.30/can all-in (excl. tariffs). Assumes full distribution ramp by month 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PILLAR 2: THE LUCY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BRAND-FORWARD · SPIRITS-THEMED · LTO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LUCY COLLECTION — "THE POOLSIDE COLLECTION"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Collection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Theme: Spirits, cocktails, poolside leisure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Premium, experiential, social occasion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Flavor profiles that feel adult — not candy, not menthol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Brand voice: Relaxed confidence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Walton Goggins at a rooftop bar, not a boardroom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LTO model: Seasonal collection (Summer '26 launch?)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Rotate. Build anticipation. Scarcity = demand.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Lucy = source flavors. FRE Labs = permission.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The collection turns white-label into a brand moment.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Source → SKU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🥭 Mango → [TBD: Citrus Spritz? Mango Mojito?]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   Tropical, bright, poolside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🍂 Cinnamon → [TBD: Spiced Old Fashioned? Fireside?]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   Warm, bold, evening cocktail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☕ Espresso → [TBD: Espresso Martini? Cold Brew?]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   Coffee-forward, sophisticated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OPEN QUESTIONS: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Final collection name: "Poolside" vs. other themes?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SKU names: spirits? cocktails? geography?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How far do we push packaging visuals?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Alp Drifters versions — naming TBD by ALP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PILLAR 3: BEYOND NICOTINE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CAFFEINE · NOOTROPICS · CATEGORY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BEYOND NICOTINE — CAFFEINE, NOOTROPICS,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Three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H1 ☕ CAFFEINE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ALP proof: $1.34M revenue, 2,976 cases, 69.9% margin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Coffee Break = #1 SKU (39.3% share, $525K)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Dallas evaluation: April 7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H2 🧠 NOOTROPICS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Emerging: focus, cognition, productivity users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Post-caffeine opportunity. White space.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H3 ❓ TBD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Third functional category. Watch the market.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Platform architecture lets us move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The Dallas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April 7: Alex → Dallas. Meeting with Callum.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Head-to-head evaluation: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DENISSI vs. Teaza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Taste + texture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Pouch quality + delivery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Manufacturing capability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• Partnership terms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Revenue estimate: $500K–$1M / 12 months (conservative)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Post-Dallas: Partner selection, formulation,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branding, GTM.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CAFFEINE POUCH OPPORTUNITY — $1.1B AND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Market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TAM: $25B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US energy drink market (Grand View / Mintel, 2025)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SAM: ~$1.1B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Caffeine energy pouch market (Research &amp; Markets, 2025)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SOM: $500K–$1M Year 1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Conservative FRE capture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FRE'S EDGE: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75K+ doors of existing distribution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Pouch manufacturing relationships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ALP proof of demand ($1.34M)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Consumer crossover from nicotine to caffeine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ZYN Energy (PMI) — leveraging Zyn brand halo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Rogue Energy (Swisher) — nicotine + caffeine hybrid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LF*GO! (indie) — DTC, "clean caffeine"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Rebel Pouches (indie) — nootropic angle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Teaza / DENISSI — potential FRE partners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KEY INSIGHT: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No dominant player yet in caffeine pouches.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Category is pre-consolidation.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First mover with 75K doors wins.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Sources: Grand View (2025), Research &amp; Markets (2026),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Mintel (2025). ALP data: internal.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KEY DECISIONS — BRANDING, LEGAL SEPARATION, 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🔴 BRAND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Can caffeine/nootropic products live under FRE?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Or must they be a separate brand?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FDA: Nicotine = TCA. Caffeine = food/dietary supp.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Mixing categories = regulatory risk.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Precedent: Zyn Energy ≠ Zyn. Rogue Energy ≠ Rogue.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Rec: Separate brand entity. Confirm with GC.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Who decides: Brittani Cushman + regulatory counsel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🟡 BRAND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Still in development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Must feel connected to TPB but legally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distinct from FRE nicotine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Not a blocker for Dallas evaluation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Who decides: Marketing +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🟢 MANUFACTURING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Dallas head-to-head: April 7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DENISSI vs. Teaza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Evaluation criteria: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• Taste + texture quality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• Pouch manufacturing capability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• Partnership terms + pricing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• Scale potential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Who decides: Alex Foster + Connor Smith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THE CONSUMER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FRE LABS CX — HOW CONSUMERS SHAPE WHAT COMES NEXT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FRE LABS CX — VOTE → WAITLIST → DROP → REPEAT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🗳️ THEY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Packaging votes — tournament-style,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consumers pick designs head-to-head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Flavor polls — "Which flavor should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we make next?" Visual cards, real-time results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Early access waitlist — invite friends,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move up the list. Builds owned audience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REAL influence. Not the illusion of it.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If they vote for it, we make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📊 WE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Every vote = demand signal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"79% of 2,000 consumers chose this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packaging." Walk into a retailer with that.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Not a focus group of 12 in a rented room.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Statistically significant, continuous data.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AI Decision Digests — automated weekly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summaries of consumer sentiment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Feeds directly into stage gate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🔁 IT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Vote data from Q3 informs Q4 slate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Consumer prefs aggregate into a dataset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no competitor has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ZYN Rewards = transactional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(scan code, get points, buy stuff)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No co-creation. No consumer voice.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FRE LABS = collaborative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Consumers feel ownership. They evangelize.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"ZYN treats consumers as buyers.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FRE Labs treats them as collaborators."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TRADITIONAL CPG VS. FRE LABS — SPEED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❌ TRADITIONAL CPG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18-24 month development cycles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Heavy R&amp;D before any market signal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Full brand launch or nothing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Failure = write-off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Requires new regulatory approvals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By the time you know it's wrong,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you've already committed the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✅ FRE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Weeks to market (white-label) / months (collections)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Consumer signal first, then commit capital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LTO rotation — test, learn, kill or scale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Failure = minimal sunk cost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Leverage partner portfolios — no new PMTA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Built by AI agents — not a 6-month agency timeline.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Prototype in a day, ship in a week, iterate in real-time.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By the time a competitor copies this, we're 3 generations ahead.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1. APPROVE STREAMLINE P.O.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First order for 5 FRE Labs SKUs. Terms locked. Naming decision needed.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2. ENDORSE THE LUCY COLLECTION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"The Poolside Collection" as first themed release. Approve flavor-to-name process.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3. GREENLIGHT DALLAS EVALUATION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Support April 7 DENISSI vs. Teaza meeting. Post-Dallas: present caffeine strategy.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4. GC GUIDANCE ON BRAND SEPARATION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Confirm whether non-nicotine products require separate brand entity.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5. APPROVE FRE LABS CX — PHASE 1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Legal review on consumer data collection + age verification.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   Green light to build: Packaging Votes + Flavor Polls + Waitlist.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SIGN-OFFS: CFO · CCO · CRO · GC · CSO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Three product pillars. One consumer engine. Low risk at every stage. Near-term (Streamline — order-ready), creative (Lucy — 2-3 months), visionary (Beyond Nicotine — demand proven), adaptive (CX — makes all three smarter).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SUPPORTING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APPENDIX A: ALP CAFFEINE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Total Revenue: $1.34M | Total Cases: 2,976 | Gross Margin: 69.9%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SKU BREAKDOWN: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Coffee Break — 39.3% share, $525K revenue (#1 SKU)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Citrus Boost — 2nd highest performer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Mint Chill — 3rd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Berry Burst — 4th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Tropical Energy — 5th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KEY INSIGHT: Coffee flavor dominates caffeine pouches, mirroring energy drink category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where coffee-flavored variants outperform fruit flavors 2:1.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This data is the demand signal. Consumers want caffeine pouches.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The question is PMF, branding, and the right manufacturing partner.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Source: ALP internal data. Revenue period: trailing 12 months.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APPENDIX B: STREAMLINE DEAL TERMS (FULL)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600">
                <a:solidFill>
                  <a:srgbClr val="000000"/>
                </a:solidFill>
              </a:rPr>
              <a:t>• MANUFACTURING PARTNER: Streamline (Juice Head parent company)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CEO: Patrick Mulcahy — patrick@streamlinevape.com — (714) 823-3750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Die Lines: Matt Halvorson / Neemo Tawasha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PRICING: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Standard: $1.30/can all-in (includes sea freight)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Volume: $1.20/can at 500K+ units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Tariffs: billed separately (variable, TBD)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PAYMENT TERMS: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50% deposit at order confirmation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50% pre-shipment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MINIMUMS: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MOQ: 10,000 cans per SKU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• Minimum order: 100,000 cans total per order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600">
                <a:solidFill>
                  <a:srgbClr val="000000"/>
                </a:solidFill>
              </a:rPr>
              <a:t>• 5 SKUs ready for production. Samples in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>
                <a:solidFill>
                  <a:srgbClr val="C0C0C0"/>
                </a:solidFill>
              </a:rPr>
              <a:t>Terms confirmed 2026-03-25. Subject to tariff adjustments.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APPENDIX C: FRE LABS CX — PHASED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PHASE 1: THE VOTE (Wk 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Packaging Vote — head-to-head tournament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Directly supports Rohith demo action item #4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(consumer-test 3 design variants per flavor)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Flavor Polls — visual cards, real-time results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"Which flavor should we make next?"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Early Access Waitlist — tiered, referral-based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Builds owned audience for every future drop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Tech: Custom web app → Shopify App Proxy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Lives on frepouch.com/labs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QR on-can → age verify →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PHASE 2: THE LOOP (Wk 5-8)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Limited Release Drop Pages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48-hour early access before retail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Real-time stock counters, one-click purchase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AI Decision Digests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Automated weekly sentiment summaries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What's trending, what's polarizing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Social Integration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Share your vote, challenge a friend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Organic reach from consumer participation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Proof: Lay's = 14M submissions, +12% sales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Jones Soda = 69% engagement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005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</a:rPr>
              <a:t>PHASE 3: THE HUB (Wk 9-12)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300">
                <a:solidFill>
                  <a:srgbClr val="000000"/>
                </a:solidFill>
              </a:rPr>
              <a:t>• Full frepouch.com/labs integration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Persistent destination, not a campaign page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Multi-brand support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Lucy, Streamline, Alp Drifters, etc.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Each brand line gets its own visual world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Consumer profiles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Voting history + accuracy tracking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"You picked 3 of our last 4 releases"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Early access status + tier progression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Proof: Nike SNKRS = 160M members</a:t>
            </a:r>
          </a:p>
          <a:p>
            <a:pPr spc="100"/>
            <a:r>
              <a:rPr sz="1300">
                <a:solidFill>
                  <a:srgbClr val="000000"/>
                </a:solidFill>
              </a:rPr>
              <a:t>• LEGO Ideas = MIT-validated loyalty lift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000">
                <a:solidFill>
                  <a:srgbClr val="000000"/>
                </a:solidFill>
              </a:rPr>
              <a:t>APPENDIX D: 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Streamline tariff increase raises COGS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Lucy Collection naming misses the mark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Caffeine pouch regulatory classification unclear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CX platform low initial consumer adoption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Cannibalization of core FRE SKUs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ZYN launches competing co-creation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00B0F0"/>
                </a:solidFill>
              </a:rPr>
              <a:t>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">
                <a:solidFill>
                  <a:srgbClr val="00B0F0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spc="100"/>
            <a:r>
              <a:rPr sz="1400">
                <a:solidFill>
                  <a:srgbClr val="000000"/>
                </a:solidFill>
              </a:rPr>
              <a:t>• Volume pricing at 500K+ ($1.20). Tariff pass-through.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LTO model — rotate out quickly. Test with CX polls first.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GC ruling before capital commitment. Separate brand entity.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QR on-can seeding. Waitlist referral mechanics. Zero paid acq needed.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"Different Not Better" guardrail. Distinct branding, flavor profiles, occasions.</a:t>
            </a:r>
          </a:p>
          <a:p>
            <a:pPr spc="100"/>
            <a:r>
              <a:rPr sz="1400">
                <a:solidFill>
                  <a:srgbClr val="000000"/>
                </a:solidFill>
              </a:rPr>
              <a:t>• First-mover advantage. Platform &gt; program. Data flywheel already compounding.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B_PP_Theme_TITL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2AE1A997-23B2-7244-B188-C644C43DAAC3}"/>
    </a:ext>
  </a:extLst>
</a:theme>
</file>

<file path=ppt/theme/theme2.xml><?xml version="1.0" encoding="utf-8"?>
<a:theme xmlns:a="http://schemas.openxmlformats.org/drawingml/2006/main" name="1_TPB_PP_Theme_Content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Custom 1">
      <a:majorFont>
        <a:latin typeface="Helvetica Neue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81867E77-5C1D-994F-8C16-857718B6CAB2}"/>
    </a:ext>
  </a:extLst>
</a:theme>
</file>

<file path=ppt/theme/theme3.xml><?xml version="1.0" encoding="utf-8"?>
<a:theme xmlns:a="http://schemas.openxmlformats.org/drawingml/2006/main" name="1_TPB_PP_Theme_Grouping Slid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8D8D8"/>
      </a:accent1>
      <a:accent2>
        <a:srgbClr val="A5A5A5"/>
      </a:accent2>
      <a:accent3>
        <a:srgbClr val="7F7F7F"/>
      </a:accent3>
      <a:accent4>
        <a:srgbClr val="00B0F0"/>
      </a:accent4>
      <a:accent5>
        <a:srgbClr val="262626"/>
      </a:accent5>
      <a:accent6>
        <a:srgbClr val="4747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PB_Corporate_Template" id="{78743B3D-166A-2C47-9958-CE2CFA746DBB}" vid="{F6CE499B-1942-F447-8BFE-D3712C1C19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</TotalTime>
  <Words>18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Helvetica Neue</vt:lpstr>
      <vt:lpstr>Helvetica Neue Medium</vt:lpstr>
      <vt:lpstr>Poppins</vt:lpstr>
      <vt:lpstr>TPB_PP_Theme_TITLE</vt:lpstr>
      <vt:lpstr>1_TPB_PP_Theme_Content Slide</vt:lpstr>
      <vt:lpstr>1_TPB_PP_Theme_Grouping Slide</vt:lpstr>
      <vt:lpstr>PowerPoint Presentation</vt:lpstr>
      <vt:lpstr>xxx</vt:lpstr>
      <vt:lpstr>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Hernandez</dc:creator>
  <cp:lastModifiedBy>Alexander Foster</cp:lastModifiedBy>
  <cp:revision>15</cp:revision>
  <dcterms:created xsi:type="dcterms:W3CDTF">2023-08-10T06:02:41Z</dcterms:created>
  <dcterms:modified xsi:type="dcterms:W3CDTF">2026-03-17T04:33:23Z</dcterms:modified>
</cp:coreProperties>
</file>