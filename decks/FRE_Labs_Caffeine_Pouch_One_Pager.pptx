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7" r:id="rId3"/>
  </p:sldMasterIdLst>
  <p:sldIdLst>
    <p:sldId id="256" r:id="rId7"/>
    <p:sldId id="257" r:id="rId6"/>
    <p:sldId id="258" r:id="rId5"/>
    <p:sldId id="259" r:id="rId4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5AC2-BD92-429D-A74C-D27B4E0E72A8}" v="3" dt="2026-03-17T04:33:02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667"/>
    <p:restoredTop sz="96327"/>
  </p:normalViewPr>
  <p:slideViewPr>
    <p:cSldViewPr snapToGrid="0">
      <p:cViewPr>
        <p:scale>
          <a:sx n="100" d="100"/>
          <a:sy n="100" d="100"/>
        </p:scale>
        <p:origin x="7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3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43629F-2DE2-051E-4125-1049812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4525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76876A-756E-769F-1FF5-D663F31A4D8A}"/>
              </a:ext>
            </a:extLst>
          </p:cNvPr>
          <p:cNvSpPr/>
          <p:nvPr userDrawn="1"/>
        </p:nvSpPr>
        <p:spPr>
          <a:xfrm>
            <a:off x="-10202" y="6558110"/>
            <a:ext cx="12192000" cy="299890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Turning Point Brands Logo 1-01.png" descr="Turning Point Brands Logo 1-01.png">
            <a:extLst>
              <a:ext uri="{FF2B5EF4-FFF2-40B4-BE49-F238E27FC236}">
                <a16:creationId xmlns:a16="http://schemas.microsoft.com/office/drawing/2014/main" id="{15E073BE-E684-83CC-A979-85FA575B3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0335" b="30335"/>
          <a:stretch>
            <a:fillRect/>
          </a:stretch>
        </p:blipFill>
        <p:spPr>
          <a:xfrm>
            <a:off x="3296542" y="791967"/>
            <a:ext cx="5598915" cy="220198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0">
            <a:extLst>
              <a:ext uri="{FF2B5EF4-FFF2-40B4-BE49-F238E27FC236}">
                <a16:creationId xmlns:a16="http://schemas.microsoft.com/office/drawing/2014/main" id="{EA11AF65-45D1-35B3-4812-1748D005BCDE}"/>
              </a:ext>
            </a:extLst>
          </p:cNvPr>
          <p:cNvSpPr txBox="1"/>
          <p:nvPr userDrawn="1"/>
        </p:nvSpPr>
        <p:spPr>
          <a:xfrm>
            <a:off x="1454898" y="653368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79FE7FA-A6EB-69D1-2CDA-7E9FDBB6E9C9}"/>
              </a:ext>
            </a:extLst>
          </p:cNvPr>
          <p:cNvSpPr txBox="1"/>
          <p:nvPr userDrawn="1"/>
        </p:nvSpPr>
        <p:spPr>
          <a:xfrm>
            <a:off x="291407" y="6598832"/>
            <a:ext cx="2061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4327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019690D-BBEB-A894-5633-35FA498A700A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20">
            <a:extLst>
              <a:ext uri="{FF2B5EF4-FFF2-40B4-BE49-F238E27FC236}">
                <a16:creationId xmlns:a16="http://schemas.microsoft.com/office/drawing/2014/main" id="{A0830267-5F54-68D0-7739-01F3264F385C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12FD36-4F64-7C8D-A792-3F61AFA48D8A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  <p:pic>
        <p:nvPicPr>
          <p:cNvPr id="9" name="Turning Point Brands Logo.png" descr="Turning Point Brands Logo.png">
            <a:extLst>
              <a:ext uri="{FF2B5EF4-FFF2-40B4-BE49-F238E27FC236}">
                <a16:creationId xmlns:a16="http://schemas.microsoft.com/office/drawing/2014/main" id="{AA7828D1-385A-598D-FEA3-F4C68B6BA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2AD4A0-1E8B-A237-136D-F6487A203716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62" y="760104"/>
            <a:ext cx="11277475" cy="66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A85D06A-E24B-42D5-65DF-A46C1BEA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30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urning Point Brands Logo.png" descr="Turning Point Brands Logo.png">
            <a:extLst>
              <a:ext uri="{FF2B5EF4-FFF2-40B4-BE49-F238E27FC236}">
                <a16:creationId xmlns:a16="http://schemas.microsoft.com/office/drawing/2014/main" id="{CB7FD011-EF67-8E04-BFA2-1C27325D5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F8984D2-B12B-270B-687D-0B2FEA28D5A8}"/>
              </a:ext>
            </a:extLst>
          </p:cNvPr>
          <p:cNvGrpSpPr/>
          <p:nvPr userDrawn="1"/>
        </p:nvGrpSpPr>
        <p:grpSpPr>
          <a:xfrm>
            <a:off x="12014825" y="1862280"/>
            <a:ext cx="215442" cy="3133440"/>
            <a:chOff x="12014825" y="1862280"/>
            <a:chExt cx="215442" cy="3133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66C67E-01C1-6AD9-5C35-3D0774EC1A46}"/>
                </a:ext>
              </a:extLst>
            </p:cNvPr>
            <p:cNvSpPr/>
            <p:nvPr userDrawn="1"/>
          </p:nvSpPr>
          <p:spPr>
            <a:xfrm>
              <a:off x="12045142" y="1862280"/>
              <a:ext cx="146858" cy="3133440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2E5C0F-811B-A72E-430D-9DE0D7650349}"/>
                </a:ext>
              </a:extLst>
            </p:cNvPr>
            <p:cNvSpPr txBox="1"/>
            <p:nvPr userDrawn="1"/>
          </p:nvSpPr>
          <p:spPr>
            <a:xfrm rot="5400000">
              <a:off x="11274077" y="3321278"/>
              <a:ext cx="1696937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  <a:sym typeface="Calibri"/>
                </a:rPr>
                <a:t>Turning Point Brands (NYSE: TPB)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BB96CB7-90D9-C3AB-907A-931BF87B47AF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D0F8E446-B29A-A488-B699-4DFAFFF022DD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97C638-878E-05E6-164D-C0FDC33F0825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255105550"/>
      </p:ext>
    </p:extLst>
  </p:cSld>
  <p:clrMap bg1="lt1" tx1="dk1" bg2="lt2" tx2="dk2" accent1="accent1" accent2="accent2" accent3="accent3" accent4="accent4" accent5="accent5" accent6="accent6" hlink="hlink" folHlink="folHlink"/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403000000020004" pitchFamily="2"/>
          <a:ea typeface="Helvetica Neue" panose="02000403000000020004" pitchFamily="2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B0F0"/>
                </a:solidFill>
              </a:rPr>
              <a:t>FRE LABS × OAKMONT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Caffeine / Energy Pouch White-Label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FFFFFF"/>
                </a:solidFill>
              </a:rPr>
              <a:t>Dallas Working Session — April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DISCUSSION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1430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0000"/>
                </a:solidFill>
              </a:rPr>
              <a:t>COMMERCIAL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i="1">
                <a:solidFill>
                  <a:srgbClr val="444444"/>
                </a:solidFill>
                <a:latin typeface="Helvetica Neue"/>
              </a:rPr>
              <a:t>What deal structure makes caffeine pouches viable for both TPB and Oakmont?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EAEAEA"/>
          </a:solidFill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0000"/>
                </a:solidFill>
              </a:rPr>
              <a:t>PRODUCT &amp; 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i="1">
                <a:solidFill>
                  <a:srgbClr val="444444"/>
                </a:solidFill>
                <a:latin typeface="Helvetica Neue"/>
              </a:rPr>
              <a:t>Can Oakmont manufacture caffeine pouches on the Estonia lines — and how fast?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1247120" cy="11430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40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0000"/>
                </a:solidFill>
              </a:rPr>
              <a:t>REGULATORY &amp; 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5195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i="1">
                <a:solidFill>
                  <a:srgbClr val="444444"/>
                </a:solidFill>
                <a:latin typeface="Helvetica Neue"/>
              </a:rPr>
              <a:t>Where do we launch first, and what's the regulatory path to get there?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199"/>
            <a:ext cx="11247120" cy="1143000"/>
          </a:xfrm>
          <a:prstGeom prst="rect">
            <a:avLst/>
          </a:prstGeom>
          <a:solidFill>
            <a:srgbClr val="EAEAEA"/>
          </a:solidFill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51663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20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0000"/>
                </a:solidFill>
              </a:rPr>
              <a:t>STRATEGIC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53211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i="1">
                <a:solidFill>
                  <a:srgbClr val="444444"/>
                </a:solidFill>
                <a:latin typeface="Helvetica Neue"/>
              </a:rPr>
              <a:t>Does caffeine strengthen or distract from the nicotine partnership?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WHY CAFFEINE POUCHES? WHY OAKMONT?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5120640" cy="18288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Caffeine pouches are the fastest-growing functional oral segment — energy without cans, pills, or sugar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Lower regulatory bar than nicotine in virtually every EU market (food/supplement, not tobacco)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FRE Labs operates 5 brand lines and 17 SKUs — caffeine is a natural portfolio extension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US caffeine pouch market growing rapidly — EU is 2-3 years behind. First-mover advantage.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Proves the Oakmont partnership works before the bigger nicotine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005840"/>
            <a:ext cx="18288" cy="5029200"/>
          </a:xfrm>
          <a:prstGeom prst="rect">
            <a:avLst/>
          </a:prstGeom>
          <a:solidFill>
            <a:srgbClr val="DDDDDD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WHY OAKMONT / DENSSI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89888"/>
            <a:ext cx="5120640" cy="18288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Oakmont already manufactures pouches in Estonia — same equipment, same lines, same QA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DENSSI's existing EU retail footprint = instant distribution access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White-label model = lower risk: Oakmont manufactures, FRE Labs brands and markets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Estonia manufacturing = 'Made in EU' on label — no import classification issues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Zero DENSSI conflict: caffeine doesn't compete with Oakmont's nicotine brand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SECTION 1 — COMMERCIAL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solidFill>
            <a:srgbClr val="E8F4FD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b="1">
                <a:solidFill>
                  <a:srgbClr val="333333"/>
                </a:solidFill>
                <a:latin typeface="Helvetica Neue"/>
              </a:rPr>
              <a:t>What deal structure makes caffeine pouches viable for both TPB and Oakmont?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430000" cy="425196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457200"/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#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QUESTION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WHY IT MATTERS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White-label vs. co-manufactured? Who owns the formulation?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Determines IP ownership and switching costs if partnership ends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2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Brand architecture: FRE Labs sub-brand, new brand, or Oakmont umbrella?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Affects brand equity, marketing spend, and consumer perception in EU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3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Pricing model: cost-plus, revenue share, or fixed COGS per can?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Directly drives margin structure and P&amp;L viability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4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Exclusivity: can Oakmont sell the same product under different branding?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If yes, we're funding our own competition. Need formulation exclusivity.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What MOQs and territory scope make this viable for both sides?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Balances commitment level vs. flexibility to use other partners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SECTION 2 — PRODUCT &amp;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solidFill>
            <a:srgbClr val="E8F4FD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b="1">
                <a:solidFill>
                  <a:srgbClr val="333333"/>
                </a:solidFill>
                <a:latin typeface="Helvetica Neue"/>
              </a:rPr>
              <a:t>Can Oakmont manufacture caffeine pouches on the Estonia lines — and how fast?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430000" cy="425196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457200"/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#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QUESTION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WHY IT MATTERS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Can Estonia run caffeine on the same pouch lines as nicotine?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Same lines = low incremental cost. Separate equipment = bigger ask.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2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Caffeine dosing: 50mg, 100mg, 150mg per pouch? EU limits?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Affects regulatory classification and consumer positioning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3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Flavor options: what does Oakmont already produce vs. custom dev?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Existing flavors = faster launch. Custom = more cost and lead time.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4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Same can size, pouch count, and form factor as FRE nicotine?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Portfolio consistency aids retail placement and brand recognition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Lead time: PO → finished goods → delivered in-market?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Drives inventory planning, cash flow, and launch timeline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SECTION 3 — REGULATORY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solidFill>
            <a:srgbClr val="E8F4FD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90CC"/>
                </a:solidFill>
                <a:latin typeface="Helvetica Neue"/>
              </a:rPr>
              <a:t>MUST-ANSWER:  </a:t>
            </a:r>
            <a:r>
              <a:rPr sz="1100" b="1">
                <a:solidFill>
                  <a:srgbClr val="333333"/>
                </a:solidFill>
                <a:latin typeface="Helvetica Neue"/>
              </a:rPr>
              <a:t>Where do we launch first, and what's the regulatory path to get there?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430000" cy="4251960"/>
        </p:xfrm>
        <a:graphic>
          <a:graphicData uri="http://schemas.openxmlformats.org/drawingml/2006/table">
            <a:tbl>
              <a:tblPr firstRow="0" bandRow="0" bandCol="0" lastRow="0">
                <a:tableStyleId>{5C22544A-7EE6-4342-B048-85BDC9FD1C3A}</a:tableStyleId>
              </a:tblPr>
              <a:tblGrid>
                <a:gridCol w="457200"/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#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QUESTION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WHY IT MATTERS</a:t>
                      </a:r>
                    </a:p>
                  </a:txBody>
                  <a:tcPr anchor="t" marL="91440" marR="91440" marT="45720" marB="45720">
                    <a:solidFill>
                      <a:srgbClr val="0090C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EU classification: food supplement or novel food? Per-market or unified?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Novel food = same trap as German nicotine. Must confirm per market.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2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Labeling: caffeine content, health warnings, EU food info regs?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Non-compliant labeling = product seized at customs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3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Which markets first: follow Oakmont's footprint or our reg analysis?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Launch where infrastructure exists vs. where opportunity is biggest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4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UK: lightest regulation of all — fastest path to shelves?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UK is unregulated for both nicotine and caffeine pouches. Lowest bar.</a:t>
                      </a:r>
                    </a:p>
                  </a:txBody>
                  <a:tcPr anchor="t" marL="91440" marR="91440" marT="73152" marB="73152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00B0F0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What does a 90-day pilot look like? Volume, velocity, margin targets?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Helvetica Neue"/>
                        </a:defRPr>
                      </a:pPr>
                      <a:r>
                        <a:t>Define success before we start — avoids ambiguity on go/no-go</a:t>
                      </a:r>
                    </a:p>
                  </a:txBody>
                  <a:tcPr anchor="t"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SECTION 4 — STRATEGIC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UPSIDE /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5120640" cy="18288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Speed to market: caffeine can launch months before nicotine clears compliance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Proof of concept: validates Oakmont as a partner on a lower-risk product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Portfolio diversification: FRE Labs expands beyond nicotine without cannibalizing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Consumer crossover: caffeine users are often nicotine users — builds FRE awareness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DENSSI conflict is zero: caffeine doesn't compete with Oakmont's nicotine brand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Revenue from Day 1: no waiting for nicotine regulatory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005840"/>
            <a:ext cx="18288" cy="5029200"/>
          </a:xfrm>
          <a:prstGeom prst="rect">
            <a:avLst/>
          </a:prstGeom>
          <a:solidFill>
            <a:srgbClr val="DDDDDD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RISKS / WATCH-OUTS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89888"/>
            <a:ext cx="5120640" cy="18288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Distraction risk: does caffeine take Callum's focus away from the nicotine deal?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Brand dilution: if caffeine underperforms, does it hurt FRE's EU equity?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IP exposure: sharing formulation data sets a precedent for nicotine specs later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Novel food risk: some EU markets may classify caffeine pouches as novel food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Margin compression: white-label margins are thinner than owned manufacturing</a:t>
            </a:r>
          </a:p>
          <a:p>
            <a:pPr>
              <a:spcAft>
                <a:spcPts val="91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Dependency: if caffeine succeeds, switching costs increase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C0C0C0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00B0F0"/>
                </a:solidFill>
              </a:rPr>
              <a:t>Can Oakmont manufacture caffeine pouches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>
                <a:solidFill>
                  <a:srgbClr val="00B0F0"/>
                </a:solidFill>
              </a:rPr>
              <a:t>for FRE Labs on the Estonia lines?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114800"/>
            <a:ext cx="3017520" cy="18288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If yes — what does a Q3 2026 pilot look like?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C0C0C0"/>
                </a:solidFill>
              </a:rPr>
              <a:t>One product.  One market.  90 days.  Prove the partnership.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B_PP_Theme_TITL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2AE1A997-23B2-7244-B188-C644C43DAAC3}"/>
    </a:ext>
  </a:extLst>
</a:theme>
</file>

<file path=ppt/theme/theme2.xml><?xml version="1.0" encoding="utf-8"?>
<a:theme xmlns:a="http://schemas.openxmlformats.org/drawingml/2006/main" name="1_TPB_PP_Theme_Content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Custom 1">
      <a:majorFont>
        <a:latin typeface="Helvetica Neue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81867E77-5C1D-994F-8C16-857718B6CAB2}"/>
    </a:ext>
  </a:extLst>
</a:theme>
</file>

<file path=ppt/theme/theme3.xml><?xml version="1.0" encoding="utf-8"?>
<a:theme xmlns:a="http://schemas.openxmlformats.org/drawingml/2006/main" name="1_TPB_PP_Theme_Grouping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F6CE499B-1942-F447-8BFE-D3712C1C19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</TotalTime>
  <Words>18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Helvetica Neue</vt:lpstr>
      <vt:lpstr>Helvetica Neue Medium</vt:lpstr>
      <vt:lpstr>Poppins</vt:lpstr>
      <vt:lpstr>TPB_PP_Theme_TITLE</vt:lpstr>
      <vt:lpstr>1_TPB_PP_Theme_Content Slide</vt:lpstr>
      <vt:lpstr>1_TPB_PP_Theme_Grouping Slide</vt:lpstr>
      <vt:lpstr>PowerPoint Presentation</vt:lpstr>
      <vt:lpstr>xxx</vt:lpstr>
      <vt:lpstr>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Hernandez</dc:creator>
  <cp:lastModifiedBy>Alexander Foster</cp:lastModifiedBy>
  <cp:revision>15</cp:revision>
  <dcterms:created xsi:type="dcterms:W3CDTF">2023-08-10T06:02:41Z</dcterms:created>
  <dcterms:modified xsi:type="dcterms:W3CDTF">2026-03-17T04:33:23Z</dcterms:modified>
</cp:coreProperties>
</file>